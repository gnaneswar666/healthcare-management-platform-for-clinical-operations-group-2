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3" r:id="rId5"/>
    <p:sldId id="259" r:id="rId6"/>
    <p:sldId id="260" r:id="rId7"/>
    <p:sldId id="261" r:id="rId8"/>
    <p:sldId id="262" r:id="rId9"/>
    <p:sldId id="264" r:id="rId10"/>
    <p:sldId id="265"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Healthcare data today is fragmented across multiple systems, making a unified patient view hard to achieve.
2. Continuous, real-time vital monitoring is operationally difficult without automation.
3. Because monitoring isn't continuous, doctors often notice abnormal trends late.
4. Risk prediction today is largely reactive — it happens after symptoms already appear.
5. Building personalized care plans manually doesn't scale across a growing patient population.</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Healthcare Management Platform for Clinical Operations Group 2 unifies ten core capabilities into one platform instead of siloed tools.
2. The Digital Twin is continuously refreshed with real patient vitals and history.
3. FHIR and Kafka give us standards-based, real-time interoperability.
4. ML prediction and SHAP explainability turn raw data into trustworthy risk insight.
5. The flow ends in a closed loop: prediction leads to alerts, care plans, doctor approval, and follow-up.</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Each role gets a purpose-built dashboard rather than one generic screen.
2. Patients can track their own vitals, predictions, care plan, and adherence.
3. Doctors manage assigned patients, review alerts, and approve AI-generated care plans.
4. Admins control platform operations — patients, doctors, model lifecycle, and alerts.
5. Role-based access via Keycloak keeps each view secure and scoped appropriately.</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Milestone 1 laid the foundation: patient management and the Digital Health Twin concept itself.
2. We built independent Spring Boot microservices, each exposing clean REST APIs.
3. MongoDB stores patient and twin data, while FHIR resources standardize clinical data exchange.
4. React gives patients and doctors a responsive interface, secured with Keycloak's role-based access.
5. The Digital Twin is the core idea: a continuously updated digital state that mirrors the real patient.</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Milestone 2 introduces the AI/ML layer: diabetes and heart disease risk prediction.
2. Models are built in Python with TensorFlow and Scikit-learn, served through Flask.
3. Predictions flow from patient input to probability, risk level, and a recommendation.
4. The Model Management module lets admins add, update, activate, or retire models without code changes.
5. The Spring Boot Prediction Service integrates the Flask ML API and stores results in MongoDB.</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Explainability is essential in healthcare — doctors need to know why a model flagged a patient as high-risk.
2. SHAP breaks a prediction down into the contribution of each input feature.
3. In this example, glucose, blood pressure, and BMI are the strongest contributors.
4. It's important to be clear: SHAP explains the model's reasoning, it does not make medical decisions itself.
5. This interpretability builds clinician trust and supports safe adoption of AI in care.</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Milestone 3 closes the loop between raw vitals and actionable clinical alerts.
2. Vitals stream continuously into Kafka topics, decoupling data producers from consumers.
3. The FHIR / monitoring service consumes this stream and evaluates risk in near real time.
4. When thresholds are crossed, the Alert Service notifies the doctor and patient immediately.
5. Kafka gives us scalability and reliability — critical for a system handling continuous health data.</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Milestone 4 moves the platform from prediction to action.
2. Rather than a bare risk flag, the system produces a structured, personalized care plan.
3. Plans cover goals, medication, diet, exercise, follow-up, and adherence tracking.
4. Generation is powered by a locally-running LLM — Ollama serving Qwen 2.5 3B — for data-private inference.
5. Every plan passes through doctor review before reaching the patient, keeping a human in the loop.</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CarePlan Controller and Service form the backend spine for AI care-plan generation.
2. Structured patient and prediction data is sent to Ollama, which runs Qwen 2.5 3B locally.
3. Generated recommendations are stored in MongoDB and routed to the doctor for approval.
4. Five REST endpoints cover the full lifecycle: generate, fetch, approve, update progress, and view history.
5. This keeps AI generation, doctor oversight, and patient visibility cleanly separated in the API design.</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Across four milestones, we delivered a complete, working healthcare platform — not just a prototype.
2. Key achievements span the Digital Twin foundation, ML prediction, streaming and alerts, and AI care plans.
3. Future work focuses on real wearables, more models, and mobile access to broaden real-world impact.
4. We also see room to deepen clinical decision support and scale the platform to the cloud.
5. In summary: the platform turns fragmented healthcare data into continuous, intelligent, personalized care.</a:t>
            </a:r>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Thank the panel / audience for their time and attention.
2. Invite questions on any milestone — architecture, ML, streaming, or AI care plans.
3. Be ready to discuss trade-offs, such as why Kafka and FHIR were chosen.
4. Have the future-scope points ready in case of 'what's next' questions.</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53D"/>
        </a:solidFill>
        <a:effectLst/>
      </p:bgPr>
    </p:bg>
    <p:spTree>
      <p:nvGrpSpPr>
        <p:cNvPr id="1" name=""/>
        <p:cNvGrpSpPr/>
        <p:nvPr/>
      </p:nvGrpSpPr>
      <p:grpSpPr>
        <a:xfrm>
          <a:off x="0" y="0"/>
          <a:ext cx="0" cy="0"/>
          <a:chOff x="0" y="0"/>
          <a:chExt cx="0" cy="0"/>
        </a:xfrm>
      </p:grpSpPr>
      <p:sp>
        <p:nvSpPr>
          <p:cNvPr id="5" name="Shape 3"/>
          <p:cNvSpPr/>
          <p:nvPr/>
        </p:nvSpPr>
        <p:spPr>
          <a:xfrm>
            <a:off x="7955280" y="6217920"/>
            <a:ext cx="502920" cy="914"/>
          </a:xfrm>
          <a:prstGeom prst="line">
            <a:avLst/>
          </a:prstGeom>
          <a:noFill/>
          <a:ln w="28575">
            <a:solidFill>
              <a:srgbClr val="02C39A"/>
            </a:solidFill>
            <a:prstDash val="solid"/>
          </a:ln>
        </p:spPr>
        <p:txBody>
          <a:bodyPr/>
          <a:lstStyle/>
          <a:p>
            <a:endParaRPr lang="en-IN"/>
          </a:p>
        </p:txBody>
      </p:sp>
      <p:sp>
        <p:nvSpPr>
          <p:cNvPr id="6" name="Shape 4"/>
          <p:cNvSpPr/>
          <p:nvPr/>
        </p:nvSpPr>
        <p:spPr>
          <a:xfrm>
            <a:off x="8458200" y="6217920"/>
            <a:ext cx="182880" cy="0"/>
          </a:xfrm>
          <a:prstGeom prst="line">
            <a:avLst/>
          </a:prstGeom>
          <a:noFill/>
          <a:ln w="28575">
            <a:solidFill>
              <a:srgbClr val="02C39A"/>
            </a:solidFill>
            <a:prstDash val="solid"/>
          </a:ln>
        </p:spPr>
        <p:txBody>
          <a:bodyPr/>
          <a:lstStyle/>
          <a:p>
            <a:endParaRPr lang="en-IN"/>
          </a:p>
        </p:txBody>
      </p:sp>
      <p:sp>
        <p:nvSpPr>
          <p:cNvPr id="7" name="Shape 5"/>
          <p:cNvSpPr/>
          <p:nvPr/>
        </p:nvSpPr>
        <p:spPr>
          <a:xfrm>
            <a:off x="8641080" y="5989320"/>
            <a:ext cx="228600" cy="457200"/>
          </a:xfrm>
          <a:prstGeom prst="line">
            <a:avLst/>
          </a:prstGeom>
          <a:noFill/>
          <a:ln w="28575">
            <a:solidFill>
              <a:srgbClr val="02C39A"/>
            </a:solidFill>
            <a:prstDash val="solid"/>
          </a:ln>
        </p:spPr>
        <p:txBody>
          <a:bodyPr/>
          <a:lstStyle/>
          <a:p>
            <a:endParaRPr lang="en-IN"/>
          </a:p>
        </p:txBody>
      </p:sp>
      <p:sp>
        <p:nvSpPr>
          <p:cNvPr id="8" name="Shape 6"/>
          <p:cNvSpPr/>
          <p:nvPr/>
        </p:nvSpPr>
        <p:spPr>
          <a:xfrm>
            <a:off x="8869680" y="6446520"/>
            <a:ext cx="228600" cy="0"/>
          </a:xfrm>
          <a:prstGeom prst="line">
            <a:avLst/>
          </a:prstGeom>
          <a:noFill/>
          <a:ln w="28575">
            <a:solidFill>
              <a:srgbClr val="02C39A"/>
            </a:solidFill>
            <a:prstDash val="solid"/>
          </a:ln>
        </p:spPr>
        <p:txBody>
          <a:bodyPr/>
          <a:lstStyle/>
          <a:p>
            <a:endParaRPr lang="en-IN"/>
          </a:p>
        </p:txBody>
      </p:sp>
      <p:sp>
        <p:nvSpPr>
          <p:cNvPr id="9" name="Shape 7"/>
          <p:cNvSpPr/>
          <p:nvPr/>
        </p:nvSpPr>
        <p:spPr>
          <a:xfrm>
            <a:off x="9098280" y="6080760"/>
            <a:ext cx="274320" cy="137160"/>
          </a:xfrm>
          <a:prstGeom prst="line">
            <a:avLst/>
          </a:prstGeom>
          <a:noFill/>
          <a:ln w="28575">
            <a:solidFill>
              <a:srgbClr val="02C39A"/>
            </a:solidFill>
            <a:prstDash val="solid"/>
          </a:ln>
        </p:spPr>
        <p:txBody>
          <a:bodyPr/>
          <a:lstStyle/>
          <a:p>
            <a:endParaRPr lang="en-IN"/>
          </a:p>
        </p:txBody>
      </p:sp>
      <p:sp>
        <p:nvSpPr>
          <p:cNvPr id="10" name="Shape 8"/>
          <p:cNvSpPr/>
          <p:nvPr/>
        </p:nvSpPr>
        <p:spPr>
          <a:xfrm>
            <a:off x="9372600" y="6217920"/>
            <a:ext cx="2148840" cy="914"/>
          </a:xfrm>
          <a:prstGeom prst="line">
            <a:avLst/>
          </a:prstGeom>
          <a:noFill/>
          <a:ln w="28575">
            <a:solidFill>
              <a:srgbClr val="02C39A"/>
            </a:solidFill>
            <a:prstDash val="solid"/>
          </a:ln>
        </p:spPr>
        <p:txBody>
          <a:bodyPr/>
          <a:lstStyle/>
          <a:p>
            <a:endParaRPr lang="en-IN"/>
          </a:p>
        </p:txBody>
      </p:sp>
      <p:sp>
        <p:nvSpPr>
          <p:cNvPr id="11" name="Text 9"/>
          <p:cNvSpPr/>
          <p:nvPr/>
        </p:nvSpPr>
        <p:spPr>
          <a:xfrm>
            <a:off x="525780" y="640473"/>
            <a:ext cx="8229600" cy="365760"/>
          </a:xfrm>
          <a:prstGeom prst="rect">
            <a:avLst/>
          </a:prstGeom>
          <a:noFill/>
          <a:ln/>
        </p:spPr>
        <p:txBody>
          <a:bodyPr wrap="square" rtlCol="0" anchor="ctr"/>
          <a:lstStyle/>
          <a:p>
            <a:pPr marL="0" indent="0">
              <a:buNone/>
            </a:pPr>
            <a:r>
              <a:rPr lang="en-US" sz="1400" b="1" kern="0" spc="300" dirty="0">
                <a:solidFill>
                  <a:srgbClr val="02C39A"/>
                </a:solidFill>
                <a:latin typeface="Calibri" pitchFamily="34" charset="0"/>
                <a:ea typeface="Calibri" pitchFamily="34" charset="-122"/>
                <a:cs typeface="Calibri" pitchFamily="34" charset="-120"/>
              </a:rPr>
              <a:t>DIGITAL HEALTH TWIN PLATFORM</a:t>
            </a:r>
            <a:endParaRPr lang="en-US" sz="1400" dirty="0"/>
          </a:p>
        </p:txBody>
      </p:sp>
      <p:sp>
        <p:nvSpPr>
          <p:cNvPr id="12" name="Text 10"/>
          <p:cNvSpPr/>
          <p:nvPr/>
        </p:nvSpPr>
        <p:spPr>
          <a:xfrm>
            <a:off x="525780" y="1073953"/>
            <a:ext cx="9692640" cy="1737360"/>
          </a:xfrm>
          <a:prstGeom prst="rect">
            <a:avLst/>
          </a:prstGeom>
          <a:noFill/>
          <a:ln/>
        </p:spPr>
        <p:txBody>
          <a:bodyPr wrap="square" rtlCol="0" anchor="t"/>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Healthcare Management Platform for Clinical Operations</a:t>
            </a:r>
            <a:endParaRPr lang="en-US" sz="4000" dirty="0"/>
          </a:p>
        </p:txBody>
      </p:sp>
      <p:sp>
        <p:nvSpPr>
          <p:cNvPr id="13" name="Text 11"/>
          <p:cNvSpPr/>
          <p:nvPr/>
        </p:nvSpPr>
        <p:spPr>
          <a:xfrm>
            <a:off x="640080" y="2604713"/>
            <a:ext cx="8778240" cy="548640"/>
          </a:xfrm>
          <a:prstGeom prst="rect">
            <a:avLst/>
          </a:prstGeom>
          <a:noFill/>
          <a:ln/>
        </p:spPr>
        <p:txBody>
          <a:bodyPr wrap="square" rtlCol="0" anchor="ctr"/>
          <a:lstStyle/>
          <a:p>
            <a:pPr marL="0" indent="0">
              <a:buNone/>
            </a:pPr>
            <a:r>
              <a:rPr lang="en-US" sz="1700" dirty="0">
                <a:solidFill>
                  <a:srgbClr val="CFEDE9"/>
                </a:solidFill>
                <a:latin typeface="Calibri" pitchFamily="34" charset="0"/>
                <a:ea typeface="Calibri" pitchFamily="34" charset="-122"/>
                <a:cs typeface="Calibri" pitchFamily="34" charset="-120"/>
              </a:rPr>
              <a:t>AI-Powered Continuous Health Monitoring, Risk Prediction &amp; Personalized Care</a:t>
            </a:r>
            <a:endParaRPr lang="en-US" sz="1700" dirty="0"/>
          </a:p>
        </p:txBody>
      </p:sp>
      <p:sp>
        <p:nvSpPr>
          <p:cNvPr id="14" name="Shape 12"/>
          <p:cNvSpPr/>
          <p:nvPr/>
        </p:nvSpPr>
        <p:spPr>
          <a:xfrm>
            <a:off x="724055" y="3208963"/>
            <a:ext cx="2926080" cy="0"/>
          </a:xfrm>
          <a:prstGeom prst="line">
            <a:avLst/>
          </a:prstGeom>
          <a:noFill/>
          <a:ln w="25400">
            <a:solidFill>
              <a:srgbClr val="00A896"/>
            </a:solidFill>
            <a:prstDash val="solid"/>
          </a:ln>
        </p:spPr>
        <p:txBody>
          <a:bodyPr/>
          <a:lstStyle/>
          <a:p>
            <a:endParaRPr lang="en-IN"/>
          </a:p>
        </p:txBody>
      </p:sp>
      <p:sp>
        <p:nvSpPr>
          <p:cNvPr id="15" name="Text 13"/>
          <p:cNvSpPr/>
          <p:nvPr/>
        </p:nvSpPr>
        <p:spPr>
          <a:xfrm>
            <a:off x="901337" y="3842523"/>
            <a:ext cx="8686800" cy="292608"/>
          </a:xfrm>
          <a:prstGeom prst="rect">
            <a:avLst/>
          </a:prstGeom>
          <a:noFill/>
          <a:ln/>
        </p:spPr>
        <p:txBody>
          <a:bodyPr wrap="square" lIns="0" tIns="0" rIns="0" bIns="0" rtlCol="0" anchor="ctr"/>
          <a:lstStyle/>
          <a:p>
            <a:pPr marL="0" indent="0">
              <a:buNone/>
            </a:pPr>
            <a:endParaRPr lang="en-IN" sz="1250" b="1" dirty="0">
              <a:solidFill>
                <a:srgbClr val="8FD6CE"/>
              </a:solidFill>
              <a:latin typeface="Calibri" pitchFamily="34" charset="0"/>
              <a:ea typeface="Calibri" pitchFamily="34" charset="-122"/>
              <a:cs typeface="Calibri" pitchFamily="34" charset="-120"/>
            </a:endParaRPr>
          </a:p>
          <a:p>
            <a:pPr marL="0" indent="0">
              <a:buNone/>
            </a:pPr>
            <a:endParaRPr lang="en-IN" sz="1250" b="1" dirty="0">
              <a:solidFill>
                <a:srgbClr val="8FD6CE"/>
              </a:solidFill>
              <a:latin typeface="Calibri" pitchFamily="34" charset="0"/>
              <a:ea typeface="Calibri" pitchFamily="34" charset="-122"/>
              <a:cs typeface="Calibri" pitchFamily="34" charset="-120"/>
            </a:endParaRPr>
          </a:p>
          <a:p>
            <a:pPr marL="0" indent="0">
              <a:buNone/>
            </a:pPr>
            <a:endParaRPr lang="en-IN" sz="1250" b="1" dirty="0">
              <a:solidFill>
                <a:srgbClr val="8FD6CE"/>
              </a:solidFill>
              <a:latin typeface="Calibri" pitchFamily="34" charset="0"/>
              <a:ea typeface="Calibri" pitchFamily="34" charset="-122"/>
              <a:cs typeface="Calibri" pitchFamily="34" charset="-120"/>
            </a:endParaRPr>
          </a:p>
          <a:p>
            <a:pPr marL="0" indent="0">
              <a:buNone/>
            </a:pPr>
            <a:endParaRPr lang="en-IN" sz="1250" b="1" dirty="0">
              <a:solidFill>
                <a:srgbClr val="8FD6CE"/>
              </a:solidFill>
              <a:latin typeface="Calibri" pitchFamily="34" charset="0"/>
              <a:ea typeface="Calibri" pitchFamily="34" charset="-122"/>
              <a:cs typeface="Calibri" pitchFamily="34" charset="-120"/>
            </a:endParaRPr>
          </a:p>
          <a:p>
            <a:pPr marL="0" indent="0">
              <a:buNone/>
            </a:pPr>
            <a:endParaRPr lang="en-IN" sz="1250" b="1" dirty="0">
              <a:solidFill>
                <a:srgbClr val="8FD6CE"/>
              </a:solidFill>
              <a:latin typeface="Calibri" pitchFamily="34" charset="0"/>
              <a:ea typeface="Calibri" pitchFamily="34" charset="-122"/>
              <a:cs typeface="Calibri" pitchFamily="34" charset="-120"/>
            </a:endParaRPr>
          </a:p>
          <a:p>
            <a:pPr marL="0" indent="0">
              <a:buNone/>
            </a:pPr>
            <a:endParaRPr lang="en-IN" sz="1250" b="1" dirty="0">
              <a:solidFill>
                <a:srgbClr val="8FD6CE"/>
              </a:solidFill>
              <a:latin typeface="Calibri" pitchFamily="34" charset="0"/>
              <a:ea typeface="Calibri" pitchFamily="34" charset="-122"/>
              <a:cs typeface="Calibri" pitchFamily="34" charset="-120"/>
            </a:endParaRPr>
          </a:p>
          <a:p>
            <a:pPr marL="0" indent="0">
              <a:buNone/>
            </a:pPr>
            <a:endParaRPr lang="en-IN" b="1" dirty="0">
              <a:solidFill>
                <a:srgbClr val="8FD6CE"/>
              </a:solidFill>
              <a:latin typeface="Calibri" pitchFamily="34" charset="0"/>
              <a:ea typeface="Calibri" pitchFamily="34" charset="-122"/>
              <a:cs typeface="Calibri" pitchFamily="34" charset="-120"/>
            </a:endParaRPr>
          </a:p>
          <a:p>
            <a:pPr marL="0" indent="0">
              <a:buNone/>
            </a:pPr>
            <a:r>
              <a:rPr lang="en-IN" sz="2600" b="1" dirty="0">
                <a:solidFill>
                  <a:srgbClr val="8FD6CE"/>
                </a:solidFill>
                <a:latin typeface="Calibri" pitchFamily="34" charset="0"/>
                <a:ea typeface="Calibri" pitchFamily="34" charset="-122"/>
                <a:cs typeface="Calibri" pitchFamily="34" charset="-120"/>
              </a:rPr>
              <a:t>Gnaneswar Reddy</a:t>
            </a:r>
          </a:p>
          <a:p>
            <a:r>
              <a:rPr lang="en-IN" sz="2600" b="1" dirty="0">
                <a:solidFill>
                  <a:srgbClr val="8FD6CE"/>
                </a:solidFill>
                <a:latin typeface="Calibri" pitchFamily="34" charset="0"/>
                <a:ea typeface="Calibri" pitchFamily="34" charset="-122"/>
                <a:cs typeface="Calibri" pitchFamily="34" charset="-120"/>
              </a:rPr>
              <a:t>Keerthi Challa</a:t>
            </a:r>
          </a:p>
          <a:p>
            <a:r>
              <a:rPr lang="en-IN" sz="2600" b="1" dirty="0">
                <a:solidFill>
                  <a:srgbClr val="8FD6CE"/>
                </a:solidFill>
                <a:latin typeface="Calibri" pitchFamily="34" charset="0"/>
                <a:ea typeface="Calibri" pitchFamily="34" charset="-122"/>
                <a:cs typeface="Calibri" pitchFamily="34" charset="-120"/>
              </a:rPr>
              <a:t>Srija Thota</a:t>
            </a:r>
          </a:p>
          <a:p>
            <a:r>
              <a:rPr lang="en-IN" sz="2600" b="1" dirty="0">
                <a:solidFill>
                  <a:srgbClr val="8FD6CE"/>
                </a:solidFill>
                <a:latin typeface="Calibri" pitchFamily="34" charset="0"/>
                <a:ea typeface="Calibri" pitchFamily="34" charset="-122"/>
                <a:cs typeface="Calibri" pitchFamily="34" charset="-120"/>
              </a:rPr>
              <a:t>Nishikant</a:t>
            </a:r>
          </a:p>
          <a:p>
            <a:r>
              <a:rPr lang="en-IN" sz="2600" b="1" dirty="0">
                <a:solidFill>
                  <a:srgbClr val="8FD6CE"/>
                </a:solidFill>
                <a:latin typeface="Calibri" pitchFamily="34" charset="0"/>
                <a:ea typeface="Calibri" pitchFamily="34" charset="-122"/>
                <a:cs typeface="Calibri" pitchFamily="34" charset="-120"/>
              </a:rPr>
              <a:t>Santosh C</a:t>
            </a:r>
          </a:p>
          <a:p>
            <a:endParaRPr lang="en-IN" sz="1250" b="1" dirty="0">
              <a:solidFill>
                <a:srgbClr val="8FD6CE"/>
              </a:solidFill>
              <a:latin typeface="Calibri" pitchFamily="34" charset="0"/>
              <a:ea typeface="Calibri" pitchFamily="34" charset="-122"/>
              <a:cs typeface="Calibri" pitchFamily="34" charset="-120"/>
            </a:endParaRPr>
          </a:p>
          <a:p>
            <a:endParaRPr lang="en-US" sz="1250" dirty="0"/>
          </a:p>
          <a:p>
            <a:pPr marL="0" indent="0">
              <a:buNone/>
            </a:pPr>
            <a:endParaRPr lang="en-US" sz="1250" dirty="0"/>
          </a:p>
        </p:txBody>
      </p:sp>
      <p:sp>
        <p:nvSpPr>
          <p:cNvPr id="16" name="Text 14"/>
          <p:cNvSpPr/>
          <p:nvPr/>
        </p:nvSpPr>
        <p:spPr>
          <a:xfrm>
            <a:off x="640080" y="5468112"/>
            <a:ext cx="8686800" cy="292608"/>
          </a:xfrm>
          <a:prstGeom prst="rect">
            <a:avLst/>
          </a:prstGeom>
          <a:noFill/>
          <a:ln/>
        </p:spPr>
        <p:txBody>
          <a:bodyPr wrap="square" lIns="0" tIns="0" rIns="0" bIns="0" rtlCol="0" anchor="ctr"/>
          <a:lstStyle/>
          <a:p>
            <a:pPr marL="0" indent="0">
              <a:buNone/>
            </a:pPr>
            <a:endParaRPr lang="en-US" sz="1250" dirty="0"/>
          </a:p>
        </p:txBody>
      </p:sp>
      <p:sp>
        <p:nvSpPr>
          <p:cNvPr id="17" name="Text 15"/>
          <p:cNvSpPr/>
          <p:nvPr/>
        </p:nvSpPr>
        <p:spPr>
          <a:xfrm>
            <a:off x="640080" y="5769864"/>
            <a:ext cx="8686800" cy="292608"/>
          </a:xfrm>
          <a:prstGeom prst="rect">
            <a:avLst/>
          </a:prstGeom>
          <a:noFill/>
          <a:ln/>
        </p:spPr>
        <p:txBody>
          <a:bodyPr wrap="square" lIns="0" tIns="0" rIns="0" bIns="0" rtlCol="0" anchor="ctr"/>
          <a:lstStyle/>
          <a:p>
            <a:pPr marL="0" indent="0">
              <a:buNone/>
            </a:pPr>
            <a:endParaRPr lang="en-IN" sz="1250" dirty="0">
              <a:solidFill>
                <a:srgbClr val="E9F6F4"/>
              </a:solidFill>
              <a:latin typeface="Calibri" pitchFamily="34" charset="0"/>
              <a:ea typeface="Calibri" pitchFamily="34" charset="-122"/>
              <a:cs typeface="Calibri" pitchFamily="34" charset="-120"/>
            </a:endParaRPr>
          </a:p>
        </p:txBody>
      </p:sp>
      <p:sp>
        <p:nvSpPr>
          <p:cNvPr id="18" name="Text 16"/>
          <p:cNvSpPr/>
          <p:nvPr/>
        </p:nvSpPr>
        <p:spPr>
          <a:xfrm>
            <a:off x="640080" y="6071616"/>
            <a:ext cx="8686800" cy="292608"/>
          </a:xfrm>
          <a:prstGeom prst="rect">
            <a:avLst/>
          </a:prstGeom>
          <a:noFill/>
          <a:ln/>
        </p:spPr>
        <p:txBody>
          <a:bodyPr wrap="square" lIns="0" tIns="0" rIns="0" bIns="0" rtlCol="0" anchor="ctr"/>
          <a:lstStyle/>
          <a:p>
            <a:pPr marL="0" indent="0">
              <a:buNone/>
            </a:pP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658368"/>
            <a:ext cx="10607040" cy="685800"/>
          </a:xfrm>
          <a:prstGeom prst="rect">
            <a:avLst/>
          </a:prstGeom>
          <a:noFill/>
          <a:ln/>
        </p:spPr>
        <p:txBody>
          <a:bodyPr wrap="square" rtlCol="0" anchor="ctr"/>
          <a:lstStyle/>
          <a:p>
            <a:pPr marL="0" indent="0" algn="l">
              <a:buNone/>
            </a:pPr>
            <a:r>
              <a:rPr lang="en-US" sz="3200" b="1" dirty="0">
                <a:solidFill>
                  <a:srgbClr val="16282C"/>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234440"/>
            <a:ext cx="8686800" cy="365760"/>
          </a:xfrm>
          <a:prstGeom prst="rect">
            <a:avLst/>
          </a:prstGeom>
          <a:noFill/>
          <a:ln/>
        </p:spPr>
        <p:txBody>
          <a:bodyPr wrap="square" rtlCol="0" anchor="ctr"/>
          <a:lstStyle/>
          <a:p>
            <a:pPr marL="0" indent="0">
              <a:buNone/>
            </a:pPr>
            <a:r>
              <a:rPr lang="en-US" sz="1400" dirty="0">
                <a:solidFill>
                  <a:srgbClr val="5C7378"/>
                </a:solidFill>
                <a:latin typeface="Calibri" pitchFamily="34" charset="0"/>
                <a:ea typeface="Calibri" pitchFamily="34" charset="-122"/>
                <a:cs typeface="Calibri" pitchFamily="34" charset="-120"/>
              </a:rPr>
              <a:t>Traditional healthcare monitoring struggles to keep pace with patient risk</a:t>
            </a:r>
            <a:endParaRPr lang="en-US" sz="1400" dirty="0"/>
          </a:p>
        </p:txBody>
      </p:sp>
      <p:sp>
        <p:nvSpPr>
          <p:cNvPr id="5" name="Shape 3"/>
          <p:cNvSpPr/>
          <p:nvPr/>
        </p:nvSpPr>
        <p:spPr>
          <a:xfrm>
            <a:off x="548640" y="1920240"/>
            <a:ext cx="5074920" cy="1170432"/>
          </a:xfrm>
          <a:prstGeom prst="roundRect">
            <a:avLst>
              <a:gd name="adj" fmla="val 6250"/>
            </a:avLst>
          </a:prstGeom>
          <a:solidFill>
            <a:srgbClr val="EFF7F6"/>
          </a:solidFill>
          <a:ln/>
        </p:spPr>
        <p:txBody>
          <a:bodyPr/>
          <a:lstStyle/>
          <a:p>
            <a:endParaRPr lang="en-IN"/>
          </a:p>
        </p:txBody>
      </p:sp>
      <p:sp>
        <p:nvSpPr>
          <p:cNvPr id="6" name="Shape 4"/>
          <p:cNvSpPr/>
          <p:nvPr/>
        </p:nvSpPr>
        <p:spPr>
          <a:xfrm>
            <a:off x="749808" y="2139696"/>
            <a:ext cx="457200" cy="457200"/>
          </a:xfrm>
          <a:prstGeom prst="ellipse">
            <a:avLst/>
          </a:prstGeom>
          <a:solidFill>
            <a:srgbClr val="028090"/>
          </a:solidFill>
          <a:ln/>
        </p:spPr>
        <p:txBody>
          <a:bodyPr/>
          <a:lstStyle/>
          <a:p>
            <a:endParaRPr lang="en-IN"/>
          </a:p>
        </p:txBody>
      </p:sp>
      <p:sp>
        <p:nvSpPr>
          <p:cNvPr id="7" name="Text 5"/>
          <p:cNvSpPr/>
          <p:nvPr/>
        </p:nvSpPr>
        <p:spPr>
          <a:xfrm>
            <a:off x="749808" y="2139696"/>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371600" y="2066544"/>
            <a:ext cx="4069080" cy="310896"/>
          </a:xfrm>
          <a:prstGeom prst="rect">
            <a:avLst/>
          </a:prstGeom>
          <a:noFill/>
          <a:ln/>
        </p:spPr>
        <p:txBody>
          <a:bodyPr wrap="square" lIns="0" tIns="0" rIns="0" bIns="0" rtlCol="0" anchor="ctr"/>
          <a:lstStyle/>
          <a:p>
            <a:pPr marL="0" indent="0">
              <a:buNone/>
            </a:pPr>
            <a:r>
              <a:rPr lang="en-US" sz="1400" b="1" dirty="0">
                <a:solidFill>
                  <a:srgbClr val="16282C"/>
                </a:solidFill>
                <a:latin typeface="Calibri" pitchFamily="34" charset="0"/>
                <a:ea typeface="Calibri" pitchFamily="34" charset="-122"/>
                <a:cs typeface="Calibri" pitchFamily="34" charset="-120"/>
              </a:rPr>
              <a:t>Fragmented Records</a:t>
            </a:r>
            <a:endParaRPr lang="en-US" sz="1400" dirty="0"/>
          </a:p>
        </p:txBody>
      </p:sp>
      <p:sp>
        <p:nvSpPr>
          <p:cNvPr id="9" name="Text 7"/>
          <p:cNvSpPr/>
          <p:nvPr/>
        </p:nvSpPr>
        <p:spPr>
          <a:xfrm>
            <a:off x="1371600" y="2395728"/>
            <a:ext cx="4069080" cy="594360"/>
          </a:xfrm>
          <a:prstGeom prst="rect">
            <a:avLst/>
          </a:prstGeom>
          <a:noFill/>
          <a:ln/>
        </p:spPr>
        <p:txBody>
          <a:bodyPr wrap="square" lIns="0" tIns="0" rIns="0" bIns="0" rtlCol="0" anchor="t"/>
          <a:lstStyle/>
          <a:p>
            <a:pPr marL="0" indent="0">
              <a:buNone/>
            </a:pPr>
            <a:r>
              <a:rPr lang="en-US" sz="1150" dirty="0">
                <a:solidFill>
                  <a:srgbClr val="5C7378"/>
                </a:solidFill>
                <a:latin typeface="Calibri" pitchFamily="34" charset="0"/>
                <a:ea typeface="Calibri" pitchFamily="34" charset="-122"/>
                <a:cs typeface="Calibri" pitchFamily="34" charset="-120"/>
              </a:rPr>
              <a:t>Patient data is scattered across disconnected systems.</a:t>
            </a:r>
            <a:endParaRPr lang="en-US" sz="1150" dirty="0"/>
          </a:p>
        </p:txBody>
      </p:sp>
      <p:sp>
        <p:nvSpPr>
          <p:cNvPr id="10" name="Shape 8"/>
          <p:cNvSpPr/>
          <p:nvPr/>
        </p:nvSpPr>
        <p:spPr>
          <a:xfrm>
            <a:off x="5943600" y="1920240"/>
            <a:ext cx="5074920" cy="1170432"/>
          </a:xfrm>
          <a:prstGeom prst="roundRect">
            <a:avLst>
              <a:gd name="adj" fmla="val 6250"/>
            </a:avLst>
          </a:prstGeom>
          <a:solidFill>
            <a:srgbClr val="EFF7F6"/>
          </a:solidFill>
          <a:ln/>
        </p:spPr>
        <p:txBody>
          <a:bodyPr/>
          <a:lstStyle/>
          <a:p>
            <a:endParaRPr lang="en-IN"/>
          </a:p>
        </p:txBody>
      </p:sp>
      <p:sp>
        <p:nvSpPr>
          <p:cNvPr id="11" name="Shape 9"/>
          <p:cNvSpPr/>
          <p:nvPr/>
        </p:nvSpPr>
        <p:spPr>
          <a:xfrm>
            <a:off x="6144768" y="2139696"/>
            <a:ext cx="457200" cy="457200"/>
          </a:xfrm>
          <a:prstGeom prst="ellipse">
            <a:avLst/>
          </a:prstGeom>
          <a:solidFill>
            <a:srgbClr val="00A896"/>
          </a:solidFill>
          <a:ln/>
        </p:spPr>
        <p:txBody>
          <a:bodyPr/>
          <a:lstStyle/>
          <a:p>
            <a:endParaRPr lang="en-IN"/>
          </a:p>
        </p:txBody>
      </p:sp>
      <p:sp>
        <p:nvSpPr>
          <p:cNvPr id="12" name="Text 10"/>
          <p:cNvSpPr/>
          <p:nvPr/>
        </p:nvSpPr>
        <p:spPr>
          <a:xfrm>
            <a:off x="6144768" y="2139696"/>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6766560" y="2066544"/>
            <a:ext cx="4069080" cy="310896"/>
          </a:xfrm>
          <a:prstGeom prst="rect">
            <a:avLst/>
          </a:prstGeom>
          <a:noFill/>
          <a:ln/>
        </p:spPr>
        <p:txBody>
          <a:bodyPr wrap="square" lIns="0" tIns="0" rIns="0" bIns="0" rtlCol="0" anchor="ctr"/>
          <a:lstStyle/>
          <a:p>
            <a:pPr marL="0" indent="0">
              <a:buNone/>
            </a:pPr>
            <a:r>
              <a:rPr lang="en-US" sz="1400" b="1" dirty="0">
                <a:solidFill>
                  <a:srgbClr val="16282C"/>
                </a:solidFill>
                <a:latin typeface="Calibri" pitchFamily="34" charset="0"/>
                <a:ea typeface="Calibri" pitchFamily="34" charset="-122"/>
                <a:cs typeface="Calibri" pitchFamily="34" charset="-120"/>
              </a:rPr>
              <a:t>Monitoring Gaps</a:t>
            </a:r>
            <a:endParaRPr lang="en-US" sz="1400" dirty="0"/>
          </a:p>
        </p:txBody>
      </p:sp>
      <p:sp>
        <p:nvSpPr>
          <p:cNvPr id="14" name="Text 12"/>
          <p:cNvSpPr/>
          <p:nvPr/>
        </p:nvSpPr>
        <p:spPr>
          <a:xfrm>
            <a:off x="6766560" y="2395728"/>
            <a:ext cx="4069080" cy="594360"/>
          </a:xfrm>
          <a:prstGeom prst="rect">
            <a:avLst/>
          </a:prstGeom>
          <a:noFill/>
          <a:ln/>
        </p:spPr>
        <p:txBody>
          <a:bodyPr wrap="square" lIns="0" tIns="0" rIns="0" bIns="0" rtlCol="0" anchor="t"/>
          <a:lstStyle/>
          <a:p>
            <a:pPr marL="0" indent="0">
              <a:buNone/>
            </a:pPr>
            <a:r>
              <a:rPr lang="en-US" sz="1150" dirty="0">
                <a:solidFill>
                  <a:srgbClr val="5C7378"/>
                </a:solidFill>
                <a:latin typeface="Calibri" pitchFamily="34" charset="0"/>
                <a:ea typeface="Calibri" pitchFamily="34" charset="-122"/>
                <a:cs typeface="Calibri" pitchFamily="34" charset="-120"/>
              </a:rPr>
              <a:t>Continuous vital monitoring is difficult to sustain manually.</a:t>
            </a:r>
            <a:endParaRPr lang="en-US" sz="1150" dirty="0"/>
          </a:p>
        </p:txBody>
      </p:sp>
      <p:sp>
        <p:nvSpPr>
          <p:cNvPr id="15" name="Shape 13"/>
          <p:cNvSpPr/>
          <p:nvPr/>
        </p:nvSpPr>
        <p:spPr>
          <a:xfrm>
            <a:off x="548640" y="3346704"/>
            <a:ext cx="5074920" cy="1170432"/>
          </a:xfrm>
          <a:prstGeom prst="roundRect">
            <a:avLst>
              <a:gd name="adj" fmla="val 6250"/>
            </a:avLst>
          </a:prstGeom>
          <a:solidFill>
            <a:srgbClr val="EFF7F6"/>
          </a:solidFill>
          <a:ln/>
        </p:spPr>
        <p:txBody>
          <a:bodyPr/>
          <a:lstStyle/>
          <a:p>
            <a:endParaRPr lang="en-IN"/>
          </a:p>
        </p:txBody>
      </p:sp>
      <p:sp>
        <p:nvSpPr>
          <p:cNvPr id="16" name="Shape 14"/>
          <p:cNvSpPr/>
          <p:nvPr/>
        </p:nvSpPr>
        <p:spPr>
          <a:xfrm>
            <a:off x="749808" y="3566160"/>
            <a:ext cx="457200" cy="457200"/>
          </a:xfrm>
          <a:prstGeom prst="ellipse">
            <a:avLst/>
          </a:prstGeom>
          <a:solidFill>
            <a:srgbClr val="028090"/>
          </a:solidFill>
          <a:ln/>
        </p:spPr>
        <p:txBody>
          <a:bodyPr/>
          <a:lstStyle/>
          <a:p>
            <a:endParaRPr lang="en-IN"/>
          </a:p>
        </p:txBody>
      </p:sp>
      <p:sp>
        <p:nvSpPr>
          <p:cNvPr id="17" name="Text 15"/>
          <p:cNvSpPr/>
          <p:nvPr/>
        </p:nvSpPr>
        <p:spPr>
          <a:xfrm>
            <a:off x="749808" y="356616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371600" y="3493008"/>
            <a:ext cx="4069080" cy="310896"/>
          </a:xfrm>
          <a:prstGeom prst="rect">
            <a:avLst/>
          </a:prstGeom>
          <a:noFill/>
          <a:ln/>
        </p:spPr>
        <p:txBody>
          <a:bodyPr wrap="square" lIns="0" tIns="0" rIns="0" bIns="0" rtlCol="0" anchor="ctr"/>
          <a:lstStyle/>
          <a:p>
            <a:pPr marL="0" indent="0">
              <a:buNone/>
            </a:pPr>
            <a:r>
              <a:rPr lang="en-US" sz="1400" b="1" dirty="0">
                <a:solidFill>
                  <a:srgbClr val="16282C"/>
                </a:solidFill>
                <a:latin typeface="Calibri" pitchFamily="34" charset="0"/>
                <a:ea typeface="Calibri" pitchFamily="34" charset="-122"/>
                <a:cs typeface="Calibri" pitchFamily="34" charset="-120"/>
              </a:rPr>
              <a:t>Delayed Awareness</a:t>
            </a:r>
            <a:endParaRPr lang="en-US" sz="1400" dirty="0"/>
          </a:p>
        </p:txBody>
      </p:sp>
      <p:sp>
        <p:nvSpPr>
          <p:cNvPr id="19" name="Text 17"/>
          <p:cNvSpPr/>
          <p:nvPr/>
        </p:nvSpPr>
        <p:spPr>
          <a:xfrm>
            <a:off x="1371600" y="3822192"/>
            <a:ext cx="4069080" cy="594360"/>
          </a:xfrm>
          <a:prstGeom prst="rect">
            <a:avLst/>
          </a:prstGeom>
          <a:noFill/>
          <a:ln/>
        </p:spPr>
        <p:txBody>
          <a:bodyPr wrap="square" lIns="0" tIns="0" rIns="0" bIns="0" rtlCol="0" anchor="t"/>
          <a:lstStyle/>
          <a:p>
            <a:pPr marL="0" indent="0">
              <a:buNone/>
            </a:pPr>
            <a:r>
              <a:rPr lang="en-US" sz="1150" dirty="0">
                <a:solidFill>
                  <a:srgbClr val="5C7378"/>
                </a:solidFill>
                <a:latin typeface="Calibri" pitchFamily="34" charset="0"/>
                <a:ea typeface="Calibri" pitchFamily="34" charset="-122"/>
                <a:cs typeface="Calibri" pitchFamily="34" charset="-120"/>
              </a:rPr>
              <a:t>Doctors may not immediately notice abnormal vital changes.</a:t>
            </a:r>
            <a:endParaRPr lang="en-US" sz="1150" dirty="0"/>
          </a:p>
        </p:txBody>
      </p:sp>
      <p:sp>
        <p:nvSpPr>
          <p:cNvPr id="20" name="Shape 18"/>
          <p:cNvSpPr/>
          <p:nvPr/>
        </p:nvSpPr>
        <p:spPr>
          <a:xfrm>
            <a:off x="5943600" y="3346704"/>
            <a:ext cx="5074920" cy="1170432"/>
          </a:xfrm>
          <a:prstGeom prst="roundRect">
            <a:avLst>
              <a:gd name="adj" fmla="val 6250"/>
            </a:avLst>
          </a:prstGeom>
          <a:solidFill>
            <a:srgbClr val="EFF7F6"/>
          </a:solidFill>
          <a:ln/>
        </p:spPr>
        <p:txBody>
          <a:bodyPr/>
          <a:lstStyle/>
          <a:p>
            <a:endParaRPr lang="en-IN"/>
          </a:p>
        </p:txBody>
      </p:sp>
      <p:sp>
        <p:nvSpPr>
          <p:cNvPr id="21" name="Shape 19"/>
          <p:cNvSpPr/>
          <p:nvPr/>
        </p:nvSpPr>
        <p:spPr>
          <a:xfrm>
            <a:off x="6144768" y="3566160"/>
            <a:ext cx="457200" cy="457200"/>
          </a:xfrm>
          <a:prstGeom prst="ellipse">
            <a:avLst/>
          </a:prstGeom>
          <a:solidFill>
            <a:srgbClr val="00A896"/>
          </a:solidFill>
          <a:ln/>
        </p:spPr>
        <p:txBody>
          <a:bodyPr/>
          <a:lstStyle/>
          <a:p>
            <a:endParaRPr lang="en-IN"/>
          </a:p>
        </p:txBody>
      </p:sp>
      <p:sp>
        <p:nvSpPr>
          <p:cNvPr id="22" name="Text 20"/>
          <p:cNvSpPr/>
          <p:nvPr/>
        </p:nvSpPr>
        <p:spPr>
          <a:xfrm>
            <a:off x="6144768" y="356616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6766560" y="3493008"/>
            <a:ext cx="4069080" cy="310896"/>
          </a:xfrm>
          <a:prstGeom prst="rect">
            <a:avLst/>
          </a:prstGeom>
          <a:noFill/>
          <a:ln/>
        </p:spPr>
        <p:txBody>
          <a:bodyPr wrap="square" lIns="0" tIns="0" rIns="0" bIns="0" rtlCol="0" anchor="ctr"/>
          <a:lstStyle/>
          <a:p>
            <a:pPr marL="0" indent="0">
              <a:buNone/>
            </a:pPr>
            <a:r>
              <a:rPr lang="en-US" sz="1400" b="1" dirty="0">
                <a:solidFill>
                  <a:srgbClr val="16282C"/>
                </a:solidFill>
                <a:latin typeface="Calibri" pitchFamily="34" charset="0"/>
                <a:ea typeface="Calibri" pitchFamily="34" charset="-122"/>
                <a:cs typeface="Calibri" pitchFamily="34" charset="-120"/>
              </a:rPr>
              <a:t>Late Prediction</a:t>
            </a:r>
            <a:endParaRPr lang="en-US" sz="1400" dirty="0"/>
          </a:p>
        </p:txBody>
      </p:sp>
      <p:sp>
        <p:nvSpPr>
          <p:cNvPr id="24" name="Text 22"/>
          <p:cNvSpPr/>
          <p:nvPr/>
        </p:nvSpPr>
        <p:spPr>
          <a:xfrm>
            <a:off x="6766560" y="3822192"/>
            <a:ext cx="4069080" cy="594360"/>
          </a:xfrm>
          <a:prstGeom prst="rect">
            <a:avLst/>
          </a:prstGeom>
          <a:noFill/>
          <a:ln/>
        </p:spPr>
        <p:txBody>
          <a:bodyPr wrap="square" lIns="0" tIns="0" rIns="0" bIns="0" rtlCol="0" anchor="t"/>
          <a:lstStyle/>
          <a:p>
            <a:pPr marL="0" indent="0">
              <a:buNone/>
            </a:pPr>
            <a:r>
              <a:rPr lang="en-US" sz="1150" dirty="0">
                <a:solidFill>
                  <a:srgbClr val="5C7378"/>
                </a:solidFill>
                <a:latin typeface="Calibri" pitchFamily="34" charset="0"/>
                <a:ea typeface="Calibri" pitchFamily="34" charset="-122"/>
                <a:cs typeface="Calibri" pitchFamily="34" charset="-120"/>
              </a:rPr>
              <a:t>Risk prediction often happens only after symptoms are significant.</a:t>
            </a:r>
            <a:endParaRPr lang="en-US" sz="1150" dirty="0"/>
          </a:p>
        </p:txBody>
      </p:sp>
      <p:sp>
        <p:nvSpPr>
          <p:cNvPr id="25" name="Shape 23"/>
          <p:cNvSpPr/>
          <p:nvPr/>
        </p:nvSpPr>
        <p:spPr>
          <a:xfrm>
            <a:off x="548640" y="4773168"/>
            <a:ext cx="5074920" cy="1170432"/>
          </a:xfrm>
          <a:prstGeom prst="roundRect">
            <a:avLst>
              <a:gd name="adj" fmla="val 6250"/>
            </a:avLst>
          </a:prstGeom>
          <a:solidFill>
            <a:srgbClr val="EFF7F6"/>
          </a:solidFill>
          <a:ln/>
        </p:spPr>
        <p:txBody>
          <a:bodyPr/>
          <a:lstStyle/>
          <a:p>
            <a:endParaRPr lang="en-IN"/>
          </a:p>
        </p:txBody>
      </p:sp>
      <p:sp>
        <p:nvSpPr>
          <p:cNvPr id="26" name="Shape 24"/>
          <p:cNvSpPr/>
          <p:nvPr/>
        </p:nvSpPr>
        <p:spPr>
          <a:xfrm>
            <a:off x="749808" y="4992624"/>
            <a:ext cx="457200" cy="457200"/>
          </a:xfrm>
          <a:prstGeom prst="ellipse">
            <a:avLst/>
          </a:prstGeom>
          <a:solidFill>
            <a:srgbClr val="028090"/>
          </a:solidFill>
          <a:ln/>
        </p:spPr>
        <p:txBody>
          <a:bodyPr/>
          <a:lstStyle/>
          <a:p>
            <a:endParaRPr lang="en-IN"/>
          </a:p>
        </p:txBody>
      </p:sp>
      <p:sp>
        <p:nvSpPr>
          <p:cNvPr id="27" name="Text 25"/>
          <p:cNvSpPr/>
          <p:nvPr/>
        </p:nvSpPr>
        <p:spPr>
          <a:xfrm>
            <a:off x="749808" y="49926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371600" y="4919472"/>
            <a:ext cx="4069080" cy="310896"/>
          </a:xfrm>
          <a:prstGeom prst="rect">
            <a:avLst/>
          </a:prstGeom>
          <a:noFill/>
          <a:ln/>
        </p:spPr>
        <p:txBody>
          <a:bodyPr wrap="square" lIns="0" tIns="0" rIns="0" bIns="0" rtlCol="0" anchor="ctr"/>
          <a:lstStyle/>
          <a:p>
            <a:pPr marL="0" indent="0">
              <a:buNone/>
            </a:pPr>
            <a:r>
              <a:rPr lang="en-US" sz="1400" b="1" dirty="0">
                <a:solidFill>
                  <a:srgbClr val="16282C"/>
                </a:solidFill>
                <a:latin typeface="Calibri" pitchFamily="34" charset="0"/>
                <a:ea typeface="Calibri" pitchFamily="34" charset="-122"/>
                <a:cs typeface="Calibri" pitchFamily="34" charset="-120"/>
              </a:rPr>
              <a:t>Manual Care Plans</a:t>
            </a:r>
            <a:endParaRPr lang="en-US" sz="1400" dirty="0"/>
          </a:p>
        </p:txBody>
      </p:sp>
      <p:sp>
        <p:nvSpPr>
          <p:cNvPr id="29" name="Text 27"/>
          <p:cNvSpPr/>
          <p:nvPr/>
        </p:nvSpPr>
        <p:spPr>
          <a:xfrm>
            <a:off x="1371600" y="5248656"/>
            <a:ext cx="4069080" cy="594360"/>
          </a:xfrm>
          <a:prstGeom prst="rect">
            <a:avLst/>
          </a:prstGeom>
          <a:noFill/>
          <a:ln/>
        </p:spPr>
        <p:txBody>
          <a:bodyPr wrap="square" lIns="0" tIns="0" rIns="0" bIns="0" rtlCol="0" anchor="t"/>
          <a:lstStyle/>
          <a:p>
            <a:pPr marL="0" indent="0">
              <a:buNone/>
            </a:pPr>
            <a:r>
              <a:rPr lang="en-US" sz="1150" dirty="0">
                <a:solidFill>
                  <a:srgbClr val="5C7378"/>
                </a:solidFill>
                <a:latin typeface="Calibri" pitchFamily="34" charset="0"/>
                <a:ea typeface="Calibri" pitchFamily="34" charset="-122"/>
                <a:cs typeface="Calibri" pitchFamily="34" charset="-120"/>
              </a:rPr>
              <a:t>Personalized care plans require significant manual effort.</a:t>
            </a:r>
            <a:endParaRPr lang="en-US" sz="1150" dirty="0"/>
          </a:p>
        </p:txBody>
      </p:sp>
      <p:sp>
        <p:nvSpPr>
          <p:cNvPr id="30" name="Shape 28"/>
          <p:cNvSpPr/>
          <p:nvPr/>
        </p:nvSpPr>
        <p:spPr>
          <a:xfrm>
            <a:off x="5943600" y="4773168"/>
            <a:ext cx="5074920" cy="1170432"/>
          </a:xfrm>
          <a:prstGeom prst="roundRect">
            <a:avLst>
              <a:gd name="adj" fmla="val 6250"/>
            </a:avLst>
          </a:prstGeom>
          <a:solidFill>
            <a:srgbClr val="EFF7F6"/>
          </a:solidFill>
          <a:ln/>
        </p:spPr>
        <p:txBody>
          <a:bodyPr/>
          <a:lstStyle/>
          <a:p>
            <a:endParaRPr lang="en-IN"/>
          </a:p>
        </p:txBody>
      </p:sp>
      <p:sp>
        <p:nvSpPr>
          <p:cNvPr id="31" name="Shape 29"/>
          <p:cNvSpPr/>
          <p:nvPr/>
        </p:nvSpPr>
        <p:spPr>
          <a:xfrm>
            <a:off x="6144768" y="4992624"/>
            <a:ext cx="457200" cy="457200"/>
          </a:xfrm>
          <a:prstGeom prst="ellipse">
            <a:avLst/>
          </a:prstGeom>
          <a:solidFill>
            <a:srgbClr val="00A896"/>
          </a:solidFill>
          <a:ln/>
        </p:spPr>
        <p:txBody>
          <a:bodyPr/>
          <a:lstStyle/>
          <a:p>
            <a:endParaRPr lang="en-IN"/>
          </a:p>
        </p:txBody>
      </p:sp>
      <p:sp>
        <p:nvSpPr>
          <p:cNvPr id="32" name="Text 30"/>
          <p:cNvSpPr/>
          <p:nvPr/>
        </p:nvSpPr>
        <p:spPr>
          <a:xfrm>
            <a:off x="6144768" y="49926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6766560" y="4919472"/>
            <a:ext cx="4069080" cy="310896"/>
          </a:xfrm>
          <a:prstGeom prst="rect">
            <a:avLst/>
          </a:prstGeom>
          <a:noFill/>
          <a:ln/>
        </p:spPr>
        <p:txBody>
          <a:bodyPr wrap="square" lIns="0" tIns="0" rIns="0" bIns="0" rtlCol="0" anchor="ctr"/>
          <a:lstStyle/>
          <a:p>
            <a:pPr marL="0" indent="0">
              <a:buNone/>
            </a:pPr>
            <a:r>
              <a:rPr lang="en-US" sz="1400" b="1" dirty="0">
                <a:solidFill>
                  <a:srgbClr val="16282C"/>
                </a:solidFill>
                <a:latin typeface="Calibri" pitchFamily="34" charset="0"/>
                <a:ea typeface="Calibri" pitchFamily="34" charset="-122"/>
                <a:cs typeface="Calibri" pitchFamily="34" charset="-120"/>
              </a:rPr>
              <a:t>Adherence Tracking</a:t>
            </a:r>
            <a:endParaRPr lang="en-US" sz="1400" dirty="0"/>
          </a:p>
        </p:txBody>
      </p:sp>
      <p:sp>
        <p:nvSpPr>
          <p:cNvPr id="34" name="Text 32"/>
          <p:cNvSpPr/>
          <p:nvPr/>
        </p:nvSpPr>
        <p:spPr>
          <a:xfrm>
            <a:off x="6766560" y="5248656"/>
            <a:ext cx="4069080" cy="594360"/>
          </a:xfrm>
          <a:prstGeom prst="rect">
            <a:avLst/>
          </a:prstGeom>
          <a:noFill/>
          <a:ln/>
        </p:spPr>
        <p:txBody>
          <a:bodyPr wrap="square" lIns="0" tIns="0" rIns="0" bIns="0" rtlCol="0" anchor="t"/>
          <a:lstStyle/>
          <a:p>
            <a:pPr marL="0" indent="0">
              <a:buNone/>
            </a:pPr>
            <a:r>
              <a:rPr lang="en-US" sz="1150" dirty="0">
                <a:solidFill>
                  <a:srgbClr val="5C7378"/>
                </a:solidFill>
                <a:latin typeface="Calibri" pitchFamily="34" charset="0"/>
                <a:ea typeface="Calibri" pitchFamily="34" charset="-122"/>
                <a:cs typeface="Calibri" pitchFamily="34" charset="-120"/>
              </a:rPr>
              <a:t>Patients need continuous monitoring and adherence tracking.</a:t>
            </a:r>
            <a:endParaRPr lang="en-US" sz="1150" dirty="0"/>
          </a:p>
        </p:txBody>
      </p:sp>
      <p:sp>
        <p:nvSpPr>
          <p:cNvPr id="37" name="Text 3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endParaRPr lang="en-US" sz="1200" dirty="0"/>
          </a:p>
        </p:txBody>
      </p:sp>
      <p:sp>
        <p:nvSpPr>
          <p:cNvPr id="3" name="Text 1"/>
          <p:cNvSpPr/>
          <p:nvPr/>
        </p:nvSpPr>
        <p:spPr>
          <a:xfrm>
            <a:off x="548640" y="384048"/>
            <a:ext cx="10607040" cy="960120"/>
          </a:xfrm>
          <a:prstGeom prst="rect">
            <a:avLst/>
          </a:prstGeom>
          <a:noFill/>
          <a:ln/>
        </p:spPr>
        <p:txBody>
          <a:bodyPr wrap="square" rtlCol="0" anchor="ctr"/>
          <a:lstStyle/>
          <a:p>
            <a:pPr marL="0" indent="0" algn="l">
              <a:buNone/>
            </a:pPr>
            <a:r>
              <a:rPr lang="en-US" sz="3200" b="1" dirty="0">
                <a:solidFill>
                  <a:srgbClr val="16282C"/>
                </a:solidFill>
                <a:latin typeface="Cambria" pitchFamily="34" charset="0"/>
                <a:ea typeface="Cambria" pitchFamily="34" charset="-122"/>
                <a:cs typeface="Cambria" pitchFamily="34" charset="-120"/>
              </a:rPr>
              <a:t>Proposed Solution</a:t>
            </a:r>
            <a:endParaRPr lang="en-US" sz="3200" dirty="0"/>
          </a:p>
        </p:txBody>
      </p:sp>
      <p:sp>
        <p:nvSpPr>
          <p:cNvPr id="4" name="Text 2"/>
          <p:cNvSpPr/>
          <p:nvPr/>
        </p:nvSpPr>
        <p:spPr>
          <a:xfrm>
            <a:off x="548640" y="1234440"/>
            <a:ext cx="10881360" cy="411480"/>
          </a:xfrm>
          <a:prstGeom prst="rect">
            <a:avLst/>
          </a:prstGeom>
          <a:noFill/>
          <a:ln/>
        </p:spPr>
        <p:txBody>
          <a:bodyPr wrap="square" lIns="0" tIns="0" rIns="0" bIns="0" rtlCol="0" anchor="ctr"/>
          <a:lstStyle/>
          <a:p>
            <a:pPr marL="0" indent="0">
              <a:buNone/>
            </a:pPr>
            <a:r>
              <a:rPr lang="en-US" sz="1350" b="1" dirty="0">
                <a:solidFill>
                  <a:srgbClr val="028090"/>
                </a:solidFill>
                <a:latin typeface="Calibri" pitchFamily="34" charset="0"/>
                <a:ea typeface="Calibri" pitchFamily="34" charset="-122"/>
                <a:cs typeface="Calibri" pitchFamily="34" charset="-120"/>
              </a:rPr>
              <a:t>Healthcare Management Platform for Clinical Operations </a:t>
            </a:r>
            <a:r>
              <a:rPr lang="en-US" sz="1350" dirty="0">
                <a:solidFill>
                  <a:srgbClr val="16282C"/>
                </a:solidFill>
                <a:latin typeface="Calibri" pitchFamily="34" charset="0"/>
                <a:ea typeface="Calibri" pitchFamily="34" charset="-122"/>
                <a:cs typeface="Calibri" pitchFamily="34" charset="-120"/>
              </a:rPr>
              <a:t> is a centralized, intelligent healthcare platform built around a continuously-updated Digital Health Twin.</a:t>
            </a:r>
            <a:endParaRPr lang="en-US" sz="1350" dirty="0"/>
          </a:p>
        </p:txBody>
      </p:sp>
      <p:sp>
        <p:nvSpPr>
          <p:cNvPr id="5" name="Shape 3"/>
          <p:cNvSpPr/>
          <p:nvPr/>
        </p:nvSpPr>
        <p:spPr>
          <a:xfrm>
            <a:off x="548640" y="1874520"/>
            <a:ext cx="2048256" cy="1170432"/>
          </a:xfrm>
          <a:prstGeom prst="roundRect">
            <a:avLst>
              <a:gd name="adj" fmla="val 6250"/>
            </a:avLst>
          </a:prstGeom>
          <a:solidFill>
            <a:srgbClr val="EFF7F6"/>
          </a:solidFill>
          <a:ln/>
        </p:spPr>
        <p:txBody>
          <a:bodyPr/>
          <a:lstStyle/>
          <a:p>
            <a:endParaRPr lang="en-IN"/>
          </a:p>
        </p:txBody>
      </p:sp>
      <p:sp>
        <p:nvSpPr>
          <p:cNvPr id="6" name="Shape 4"/>
          <p:cNvSpPr/>
          <p:nvPr/>
        </p:nvSpPr>
        <p:spPr>
          <a:xfrm>
            <a:off x="1353312" y="2020824"/>
            <a:ext cx="438912" cy="438912"/>
          </a:xfrm>
          <a:prstGeom prst="ellipse">
            <a:avLst/>
          </a:prstGeom>
          <a:solidFill>
            <a:srgbClr val="028090"/>
          </a:solidFill>
          <a:ln/>
        </p:spPr>
        <p:txBody>
          <a:bodyPr/>
          <a:lstStyle/>
          <a:p>
            <a:endParaRPr lang="en-IN"/>
          </a:p>
        </p:txBody>
      </p:sp>
      <p:sp>
        <p:nvSpPr>
          <p:cNvPr id="7" name="Text 5"/>
          <p:cNvSpPr/>
          <p:nvPr/>
        </p:nvSpPr>
        <p:spPr>
          <a:xfrm>
            <a:off x="1353312" y="2020824"/>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40080" y="2514600"/>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Patient Management</a:t>
            </a:r>
            <a:endParaRPr lang="en-US" sz="1050" dirty="0"/>
          </a:p>
        </p:txBody>
      </p:sp>
      <p:sp>
        <p:nvSpPr>
          <p:cNvPr id="9" name="Shape 7"/>
          <p:cNvSpPr/>
          <p:nvPr/>
        </p:nvSpPr>
        <p:spPr>
          <a:xfrm>
            <a:off x="2743200" y="1874520"/>
            <a:ext cx="2048256" cy="1170432"/>
          </a:xfrm>
          <a:prstGeom prst="roundRect">
            <a:avLst>
              <a:gd name="adj" fmla="val 6250"/>
            </a:avLst>
          </a:prstGeom>
          <a:solidFill>
            <a:srgbClr val="EFF7F6"/>
          </a:solidFill>
          <a:ln/>
        </p:spPr>
        <p:txBody>
          <a:bodyPr/>
          <a:lstStyle/>
          <a:p>
            <a:endParaRPr lang="en-IN"/>
          </a:p>
        </p:txBody>
      </p:sp>
      <p:sp>
        <p:nvSpPr>
          <p:cNvPr id="10" name="Shape 8"/>
          <p:cNvSpPr/>
          <p:nvPr/>
        </p:nvSpPr>
        <p:spPr>
          <a:xfrm>
            <a:off x="3547872" y="2020824"/>
            <a:ext cx="438912" cy="438912"/>
          </a:xfrm>
          <a:prstGeom prst="ellipse">
            <a:avLst/>
          </a:prstGeom>
          <a:solidFill>
            <a:srgbClr val="00A896"/>
          </a:solidFill>
          <a:ln/>
        </p:spPr>
        <p:txBody>
          <a:bodyPr/>
          <a:lstStyle/>
          <a:p>
            <a:endParaRPr lang="en-IN"/>
          </a:p>
        </p:txBody>
      </p:sp>
      <p:sp>
        <p:nvSpPr>
          <p:cNvPr id="11" name="Text 9"/>
          <p:cNvSpPr/>
          <p:nvPr/>
        </p:nvSpPr>
        <p:spPr>
          <a:xfrm>
            <a:off x="3547872" y="2020824"/>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2834640" y="2514600"/>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Real-time Vital Monitoring</a:t>
            </a:r>
            <a:endParaRPr lang="en-US" sz="1050" dirty="0"/>
          </a:p>
        </p:txBody>
      </p:sp>
      <p:sp>
        <p:nvSpPr>
          <p:cNvPr id="13" name="Shape 11"/>
          <p:cNvSpPr/>
          <p:nvPr/>
        </p:nvSpPr>
        <p:spPr>
          <a:xfrm>
            <a:off x="4937760" y="1874520"/>
            <a:ext cx="2048256" cy="1170432"/>
          </a:xfrm>
          <a:prstGeom prst="roundRect">
            <a:avLst>
              <a:gd name="adj" fmla="val 6250"/>
            </a:avLst>
          </a:prstGeom>
          <a:solidFill>
            <a:srgbClr val="EFF7F6"/>
          </a:solidFill>
          <a:ln/>
        </p:spPr>
        <p:txBody>
          <a:bodyPr/>
          <a:lstStyle/>
          <a:p>
            <a:endParaRPr lang="en-IN"/>
          </a:p>
        </p:txBody>
      </p:sp>
      <p:sp>
        <p:nvSpPr>
          <p:cNvPr id="14" name="Shape 12"/>
          <p:cNvSpPr/>
          <p:nvPr/>
        </p:nvSpPr>
        <p:spPr>
          <a:xfrm>
            <a:off x="5742432" y="2020824"/>
            <a:ext cx="438912" cy="438912"/>
          </a:xfrm>
          <a:prstGeom prst="ellipse">
            <a:avLst/>
          </a:prstGeom>
          <a:solidFill>
            <a:srgbClr val="02C39A"/>
          </a:solidFill>
          <a:ln/>
        </p:spPr>
        <p:txBody>
          <a:bodyPr/>
          <a:lstStyle/>
          <a:p>
            <a:endParaRPr lang="en-IN"/>
          </a:p>
        </p:txBody>
      </p:sp>
      <p:sp>
        <p:nvSpPr>
          <p:cNvPr id="15" name="Text 13"/>
          <p:cNvSpPr/>
          <p:nvPr/>
        </p:nvSpPr>
        <p:spPr>
          <a:xfrm>
            <a:off x="5742432" y="2020824"/>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5029200" y="2514600"/>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FHIR-based Health Data Exchange</a:t>
            </a:r>
            <a:endParaRPr lang="en-US" sz="1050" dirty="0"/>
          </a:p>
        </p:txBody>
      </p:sp>
      <p:sp>
        <p:nvSpPr>
          <p:cNvPr id="17" name="Shape 15"/>
          <p:cNvSpPr/>
          <p:nvPr/>
        </p:nvSpPr>
        <p:spPr>
          <a:xfrm>
            <a:off x="7132320" y="1874520"/>
            <a:ext cx="2048256" cy="1170432"/>
          </a:xfrm>
          <a:prstGeom prst="roundRect">
            <a:avLst>
              <a:gd name="adj" fmla="val 6250"/>
            </a:avLst>
          </a:prstGeom>
          <a:solidFill>
            <a:srgbClr val="EFF7F6"/>
          </a:solidFill>
          <a:ln/>
        </p:spPr>
        <p:txBody>
          <a:bodyPr/>
          <a:lstStyle/>
          <a:p>
            <a:endParaRPr lang="en-IN"/>
          </a:p>
        </p:txBody>
      </p:sp>
      <p:sp>
        <p:nvSpPr>
          <p:cNvPr id="18" name="Shape 16"/>
          <p:cNvSpPr/>
          <p:nvPr/>
        </p:nvSpPr>
        <p:spPr>
          <a:xfrm>
            <a:off x="7936992" y="2020824"/>
            <a:ext cx="438912" cy="438912"/>
          </a:xfrm>
          <a:prstGeom prst="ellipse">
            <a:avLst/>
          </a:prstGeom>
          <a:solidFill>
            <a:srgbClr val="028090"/>
          </a:solidFill>
          <a:ln/>
        </p:spPr>
        <p:txBody>
          <a:bodyPr/>
          <a:lstStyle/>
          <a:p>
            <a:endParaRPr lang="en-IN"/>
          </a:p>
        </p:txBody>
      </p:sp>
      <p:sp>
        <p:nvSpPr>
          <p:cNvPr id="19" name="Text 17"/>
          <p:cNvSpPr/>
          <p:nvPr/>
        </p:nvSpPr>
        <p:spPr>
          <a:xfrm>
            <a:off x="7936992" y="2020824"/>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7223760" y="2514600"/>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Kafka-based Streaming</a:t>
            </a:r>
            <a:endParaRPr lang="en-US" sz="1050" dirty="0"/>
          </a:p>
        </p:txBody>
      </p:sp>
      <p:sp>
        <p:nvSpPr>
          <p:cNvPr id="21" name="Shape 19"/>
          <p:cNvSpPr/>
          <p:nvPr/>
        </p:nvSpPr>
        <p:spPr>
          <a:xfrm>
            <a:off x="9326880" y="1874520"/>
            <a:ext cx="2048256" cy="1170432"/>
          </a:xfrm>
          <a:prstGeom prst="roundRect">
            <a:avLst>
              <a:gd name="adj" fmla="val 6250"/>
            </a:avLst>
          </a:prstGeom>
          <a:solidFill>
            <a:srgbClr val="EFF7F6"/>
          </a:solidFill>
          <a:ln/>
        </p:spPr>
        <p:txBody>
          <a:bodyPr/>
          <a:lstStyle/>
          <a:p>
            <a:endParaRPr lang="en-IN"/>
          </a:p>
        </p:txBody>
      </p:sp>
      <p:sp>
        <p:nvSpPr>
          <p:cNvPr id="22" name="Shape 20"/>
          <p:cNvSpPr/>
          <p:nvPr/>
        </p:nvSpPr>
        <p:spPr>
          <a:xfrm>
            <a:off x="10131552" y="2020824"/>
            <a:ext cx="438912" cy="438912"/>
          </a:xfrm>
          <a:prstGeom prst="ellipse">
            <a:avLst/>
          </a:prstGeom>
          <a:solidFill>
            <a:srgbClr val="00A896"/>
          </a:solidFill>
          <a:ln/>
        </p:spPr>
        <p:txBody>
          <a:bodyPr/>
          <a:lstStyle/>
          <a:p>
            <a:endParaRPr lang="en-IN"/>
          </a:p>
        </p:txBody>
      </p:sp>
      <p:sp>
        <p:nvSpPr>
          <p:cNvPr id="23" name="Text 21"/>
          <p:cNvSpPr/>
          <p:nvPr/>
        </p:nvSpPr>
        <p:spPr>
          <a:xfrm>
            <a:off x="10131552" y="2020824"/>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9418320" y="2514600"/>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AI / ML Disease Prediction</a:t>
            </a:r>
            <a:endParaRPr lang="en-US" sz="1050" dirty="0"/>
          </a:p>
        </p:txBody>
      </p:sp>
      <p:sp>
        <p:nvSpPr>
          <p:cNvPr id="25" name="Shape 23"/>
          <p:cNvSpPr/>
          <p:nvPr/>
        </p:nvSpPr>
        <p:spPr>
          <a:xfrm>
            <a:off x="548640" y="3227832"/>
            <a:ext cx="2048256" cy="1170432"/>
          </a:xfrm>
          <a:prstGeom prst="roundRect">
            <a:avLst>
              <a:gd name="adj" fmla="val 6250"/>
            </a:avLst>
          </a:prstGeom>
          <a:solidFill>
            <a:srgbClr val="EFF7F6"/>
          </a:solidFill>
          <a:ln/>
        </p:spPr>
        <p:txBody>
          <a:bodyPr/>
          <a:lstStyle/>
          <a:p>
            <a:endParaRPr lang="en-IN"/>
          </a:p>
        </p:txBody>
      </p:sp>
      <p:sp>
        <p:nvSpPr>
          <p:cNvPr id="26" name="Shape 24"/>
          <p:cNvSpPr/>
          <p:nvPr/>
        </p:nvSpPr>
        <p:spPr>
          <a:xfrm>
            <a:off x="1353312" y="3374136"/>
            <a:ext cx="438912" cy="438912"/>
          </a:xfrm>
          <a:prstGeom prst="ellipse">
            <a:avLst/>
          </a:prstGeom>
          <a:solidFill>
            <a:srgbClr val="02C39A"/>
          </a:solidFill>
          <a:ln/>
        </p:spPr>
        <p:txBody>
          <a:bodyPr/>
          <a:lstStyle/>
          <a:p>
            <a:endParaRPr lang="en-IN"/>
          </a:p>
        </p:txBody>
      </p:sp>
      <p:sp>
        <p:nvSpPr>
          <p:cNvPr id="27" name="Text 25"/>
          <p:cNvSpPr/>
          <p:nvPr/>
        </p:nvSpPr>
        <p:spPr>
          <a:xfrm>
            <a:off x="1353312" y="3374136"/>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640080" y="3867912"/>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Explainable AI (SHAP)</a:t>
            </a:r>
            <a:endParaRPr lang="en-US" sz="1050" dirty="0"/>
          </a:p>
        </p:txBody>
      </p:sp>
      <p:sp>
        <p:nvSpPr>
          <p:cNvPr id="29" name="Shape 27"/>
          <p:cNvSpPr/>
          <p:nvPr/>
        </p:nvSpPr>
        <p:spPr>
          <a:xfrm>
            <a:off x="2743200" y="3227832"/>
            <a:ext cx="2048256" cy="1170432"/>
          </a:xfrm>
          <a:prstGeom prst="roundRect">
            <a:avLst>
              <a:gd name="adj" fmla="val 6250"/>
            </a:avLst>
          </a:prstGeom>
          <a:solidFill>
            <a:srgbClr val="EFF7F6"/>
          </a:solidFill>
          <a:ln/>
        </p:spPr>
        <p:txBody>
          <a:bodyPr/>
          <a:lstStyle/>
          <a:p>
            <a:endParaRPr lang="en-IN"/>
          </a:p>
        </p:txBody>
      </p:sp>
      <p:sp>
        <p:nvSpPr>
          <p:cNvPr id="30" name="Shape 28"/>
          <p:cNvSpPr/>
          <p:nvPr/>
        </p:nvSpPr>
        <p:spPr>
          <a:xfrm>
            <a:off x="3547872" y="3374136"/>
            <a:ext cx="438912" cy="438912"/>
          </a:xfrm>
          <a:prstGeom prst="ellipse">
            <a:avLst/>
          </a:prstGeom>
          <a:solidFill>
            <a:srgbClr val="028090"/>
          </a:solidFill>
          <a:ln/>
        </p:spPr>
        <p:txBody>
          <a:bodyPr/>
          <a:lstStyle/>
          <a:p>
            <a:endParaRPr lang="en-IN"/>
          </a:p>
        </p:txBody>
      </p:sp>
      <p:sp>
        <p:nvSpPr>
          <p:cNvPr id="31" name="Text 29"/>
          <p:cNvSpPr/>
          <p:nvPr/>
        </p:nvSpPr>
        <p:spPr>
          <a:xfrm>
            <a:off x="3547872" y="3374136"/>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p:nvPr/>
        </p:nvSpPr>
        <p:spPr>
          <a:xfrm>
            <a:off x="2834640" y="3867912"/>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Continuous Monitoring</a:t>
            </a:r>
            <a:endParaRPr lang="en-US" sz="1050" dirty="0"/>
          </a:p>
        </p:txBody>
      </p:sp>
      <p:sp>
        <p:nvSpPr>
          <p:cNvPr id="33" name="Shape 31"/>
          <p:cNvSpPr/>
          <p:nvPr/>
        </p:nvSpPr>
        <p:spPr>
          <a:xfrm>
            <a:off x="4937760" y="3227832"/>
            <a:ext cx="2048256" cy="1170432"/>
          </a:xfrm>
          <a:prstGeom prst="roundRect">
            <a:avLst>
              <a:gd name="adj" fmla="val 6250"/>
            </a:avLst>
          </a:prstGeom>
          <a:solidFill>
            <a:srgbClr val="EFF7F6"/>
          </a:solidFill>
          <a:ln/>
        </p:spPr>
        <p:txBody>
          <a:bodyPr/>
          <a:lstStyle/>
          <a:p>
            <a:endParaRPr lang="en-IN"/>
          </a:p>
        </p:txBody>
      </p:sp>
      <p:sp>
        <p:nvSpPr>
          <p:cNvPr id="34" name="Shape 32"/>
          <p:cNvSpPr/>
          <p:nvPr/>
        </p:nvSpPr>
        <p:spPr>
          <a:xfrm>
            <a:off x="5742432" y="3374136"/>
            <a:ext cx="438912" cy="438912"/>
          </a:xfrm>
          <a:prstGeom prst="ellipse">
            <a:avLst/>
          </a:prstGeom>
          <a:solidFill>
            <a:srgbClr val="00A896"/>
          </a:solidFill>
          <a:ln/>
        </p:spPr>
        <p:txBody>
          <a:bodyPr/>
          <a:lstStyle/>
          <a:p>
            <a:endParaRPr lang="en-IN"/>
          </a:p>
        </p:txBody>
      </p:sp>
      <p:sp>
        <p:nvSpPr>
          <p:cNvPr id="35" name="Text 33"/>
          <p:cNvSpPr/>
          <p:nvPr/>
        </p:nvSpPr>
        <p:spPr>
          <a:xfrm>
            <a:off x="5742432" y="3374136"/>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6" name="Text 34"/>
          <p:cNvSpPr/>
          <p:nvPr/>
        </p:nvSpPr>
        <p:spPr>
          <a:xfrm>
            <a:off x="5029200" y="3867912"/>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Alert Generation</a:t>
            </a:r>
            <a:endParaRPr lang="en-US" sz="1050" dirty="0"/>
          </a:p>
        </p:txBody>
      </p:sp>
      <p:sp>
        <p:nvSpPr>
          <p:cNvPr id="37" name="Shape 35"/>
          <p:cNvSpPr/>
          <p:nvPr/>
        </p:nvSpPr>
        <p:spPr>
          <a:xfrm>
            <a:off x="7132320" y="3227832"/>
            <a:ext cx="2048256" cy="1170432"/>
          </a:xfrm>
          <a:prstGeom prst="roundRect">
            <a:avLst>
              <a:gd name="adj" fmla="val 6250"/>
            </a:avLst>
          </a:prstGeom>
          <a:solidFill>
            <a:srgbClr val="EFF7F6"/>
          </a:solidFill>
          <a:ln/>
        </p:spPr>
        <p:txBody>
          <a:bodyPr/>
          <a:lstStyle/>
          <a:p>
            <a:endParaRPr lang="en-IN"/>
          </a:p>
        </p:txBody>
      </p:sp>
      <p:sp>
        <p:nvSpPr>
          <p:cNvPr id="38" name="Shape 36"/>
          <p:cNvSpPr/>
          <p:nvPr/>
        </p:nvSpPr>
        <p:spPr>
          <a:xfrm>
            <a:off x="7936992" y="3374136"/>
            <a:ext cx="438912" cy="438912"/>
          </a:xfrm>
          <a:prstGeom prst="ellipse">
            <a:avLst/>
          </a:prstGeom>
          <a:solidFill>
            <a:srgbClr val="02C39A"/>
          </a:solidFill>
          <a:ln/>
        </p:spPr>
        <p:txBody>
          <a:bodyPr/>
          <a:lstStyle/>
          <a:p>
            <a:endParaRPr lang="en-IN"/>
          </a:p>
        </p:txBody>
      </p:sp>
      <p:sp>
        <p:nvSpPr>
          <p:cNvPr id="39" name="Text 37"/>
          <p:cNvSpPr/>
          <p:nvPr/>
        </p:nvSpPr>
        <p:spPr>
          <a:xfrm>
            <a:off x="7936992" y="3374136"/>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0" name="Text 38"/>
          <p:cNvSpPr/>
          <p:nvPr/>
        </p:nvSpPr>
        <p:spPr>
          <a:xfrm>
            <a:off x="7223760" y="3867912"/>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Doctor / Admin Dashboards</a:t>
            </a:r>
            <a:endParaRPr lang="en-US" sz="1050" dirty="0"/>
          </a:p>
        </p:txBody>
      </p:sp>
      <p:sp>
        <p:nvSpPr>
          <p:cNvPr id="41" name="Shape 39"/>
          <p:cNvSpPr/>
          <p:nvPr/>
        </p:nvSpPr>
        <p:spPr>
          <a:xfrm>
            <a:off x="9326880" y="3227832"/>
            <a:ext cx="2048256" cy="1170432"/>
          </a:xfrm>
          <a:prstGeom prst="roundRect">
            <a:avLst>
              <a:gd name="adj" fmla="val 6250"/>
            </a:avLst>
          </a:prstGeom>
          <a:solidFill>
            <a:srgbClr val="EFF7F6"/>
          </a:solidFill>
          <a:ln/>
        </p:spPr>
        <p:txBody>
          <a:bodyPr/>
          <a:lstStyle/>
          <a:p>
            <a:endParaRPr lang="en-IN"/>
          </a:p>
        </p:txBody>
      </p:sp>
      <p:sp>
        <p:nvSpPr>
          <p:cNvPr id="42" name="Shape 40"/>
          <p:cNvSpPr/>
          <p:nvPr/>
        </p:nvSpPr>
        <p:spPr>
          <a:xfrm>
            <a:off x="10131552" y="3374136"/>
            <a:ext cx="438912" cy="438912"/>
          </a:xfrm>
          <a:prstGeom prst="ellipse">
            <a:avLst/>
          </a:prstGeom>
          <a:solidFill>
            <a:srgbClr val="028090"/>
          </a:solidFill>
          <a:ln/>
        </p:spPr>
        <p:txBody>
          <a:bodyPr/>
          <a:lstStyle/>
          <a:p>
            <a:endParaRPr lang="en-IN"/>
          </a:p>
        </p:txBody>
      </p:sp>
      <p:sp>
        <p:nvSpPr>
          <p:cNvPr id="43" name="Text 41"/>
          <p:cNvSpPr/>
          <p:nvPr/>
        </p:nvSpPr>
        <p:spPr>
          <a:xfrm>
            <a:off x="10131552" y="3374136"/>
            <a:ext cx="438912"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4" name="Text 42"/>
          <p:cNvSpPr/>
          <p:nvPr/>
        </p:nvSpPr>
        <p:spPr>
          <a:xfrm>
            <a:off x="9418320" y="3867912"/>
            <a:ext cx="1865376" cy="457200"/>
          </a:xfrm>
          <a:prstGeom prst="rect">
            <a:avLst/>
          </a:prstGeom>
          <a:noFill/>
          <a:ln/>
        </p:spPr>
        <p:txBody>
          <a:bodyPr wrap="square" lIns="0" tIns="0" rIns="0" bIns="0" rtlCol="0" anchor="t"/>
          <a:lstStyle/>
          <a:p>
            <a:pPr marL="0" indent="0" algn="ctr">
              <a:buNone/>
            </a:pPr>
            <a:r>
              <a:rPr lang="en-US" sz="1050" b="1" dirty="0">
                <a:solidFill>
                  <a:srgbClr val="16282C"/>
                </a:solidFill>
                <a:latin typeface="Calibri" pitchFamily="34" charset="0"/>
                <a:ea typeface="Calibri" pitchFamily="34" charset="-122"/>
                <a:cs typeface="Calibri" pitchFamily="34" charset="-120"/>
              </a:rPr>
              <a:t>AI-Generated Care Plans</a:t>
            </a:r>
            <a:endParaRPr lang="en-US" sz="1050" dirty="0"/>
          </a:p>
        </p:txBody>
      </p:sp>
      <p:sp>
        <p:nvSpPr>
          <p:cNvPr id="45" name="Text 43"/>
          <p:cNvSpPr/>
          <p:nvPr/>
        </p:nvSpPr>
        <p:spPr>
          <a:xfrm>
            <a:off x="548640" y="4434840"/>
            <a:ext cx="4572000" cy="274320"/>
          </a:xfrm>
          <a:prstGeom prst="rect">
            <a:avLst/>
          </a:prstGeom>
          <a:noFill/>
          <a:ln/>
        </p:spPr>
        <p:txBody>
          <a:bodyPr wrap="square" rtlCol="0" anchor="ctr"/>
          <a:lstStyle/>
          <a:p>
            <a:pPr marL="0" indent="0">
              <a:buNone/>
            </a:pPr>
            <a:r>
              <a:rPr lang="en-US" sz="1300" b="1" kern="0" spc="100" dirty="0">
                <a:solidFill>
                  <a:srgbClr val="5C7378"/>
                </a:solidFill>
                <a:latin typeface="Calibri" pitchFamily="34" charset="0"/>
                <a:ea typeface="Calibri" pitchFamily="34" charset="-122"/>
                <a:cs typeface="Calibri" pitchFamily="34" charset="-120"/>
              </a:rPr>
              <a:t>End-to-End Flow</a:t>
            </a:r>
            <a:endParaRPr lang="en-US" sz="1300" dirty="0"/>
          </a:p>
        </p:txBody>
      </p:sp>
      <p:sp>
        <p:nvSpPr>
          <p:cNvPr id="46" name="Shape 44"/>
          <p:cNvSpPr/>
          <p:nvPr/>
        </p:nvSpPr>
        <p:spPr>
          <a:xfrm>
            <a:off x="548640" y="4754880"/>
            <a:ext cx="2580894" cy="658368"/>
          </a:xfrm>
          <a:prstGeom prst="roundRect">
            <a:avLst>
              <a:gd name="adj" fmla="val 9722"/>
            </a:avLst>
          </a:prstGeom>
          <a:solidFill>
            <a:srgbClr val="028090"/>
          </a:solidFill>
          <a:ln/>
        </p:spPr>
        <p:txBody>
          <a:bodyPr/>
          <a:lstStyle/>
          <a:p>
            <a:endParaRPr lang="en-IN"/>
          </a:p>
        </p:txBody>
      </p:sp>
      <p:sp>
        <p:nvSpPr>
          <p:cNvPr id="47" name="Text 45"/>
          <p:cNvSpPr/>
          <p:nvPr/>
        </p:nvSpPr>
        <p:spPr>
          <a:xfrm>
            <a:off x="603504" y="475488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 Data</a:t>
            </a:r>
            <a:endParaRPr lang="en-US" sz="1200" dirty="0"/>
          </a:p>
        </p:txBody>
      </p:sp>
      <p:sp>
        <p:nvSpPr>
          <p:cNvPr id="48" name="Shape 46"/>
          <p:cNvSpPr/>
          <p:nvPr/>
        </p:nvSpPr>
        <p:spPr>
          <a:xfrm>
            <a:off x="3129534" y="5084064"/>
            <a:ext cx="256032" cy="0"/>
          </a:xfrm>
          <a:prstGeom prst="line">
            <a:avLst/>
          </a:prstGeom>
          <a:noFill/>
          <a:ln w="22225">
            <a:solidFill>
              <a:srgbClr val="5C7378"/>
            </a:solidFill>
            <a:prstDash val="solid"/>
            <a:tailEnd type="triangle"/>
          </a:ln>
        </p:spPr>
        <p:txBody>
          <a:bodyPr/>
          <a:lstStyle/>
          <a:p>
            <a:endParaRPr lang="en-IN"/>
          </a:p>
        </p:txBody>
      </p:sp>
      <p:sp>
        <p:nvSpPr>
          <p:cNvPr id="49" name="Shape 47"/>
          <p:cNvSpPr/>
          <p:nvPr/>
        </p:nvSpPr>
        <p:spPr>
          <a:xfrm>
            <a:off x="3385566" y="4754880"/>
            <a:ext cx="2580894" cy="658368"/>
          </a:xfrm>
          <a:prstGeom prst="roundRect">
            <a:avLst>
              <a:gd name="adj" fmla="val 9722"/>
            </a:avLst>
          </a:prstGeom>
          <a:solidFill>
            <a:srgbClr val="028090"/>
          </a:solidFill>
          <a:ln/>
        </p:spPr>
        <p:txBody>
          <a:bodyPr/>
          <a:lstStyle/>
          <a:p>
            <a:endParaRPr lang="en-IN"/>
          </a:p>
        </p:txBody>
      </p:sp>
      <p:sp>
        <p:nvSpPr>
          <p:cNvPr id="50" name="Text 48"/>
          <p:cNvSpPr/>
          <p:nvPr/>
        </p:nvSpPr>
        <p:spPr>
          <a:xfrm>
            <a:off x="3440430" y="475488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Digital Twin</a:t>
            </a:r>
            <a:endParaRPr lang="en-US" sz="1200" dirty="0"/>
          </a:p>
        </p:txBody>
      </p:sp>
      <p:sp>
        <p:nvSpPr>
          <p:cNvPr id="51" name="Shape 49"/>
          <p:cNvSpPr/>
          <p:nvPr/>
        </p:nvSpPr>
        <p:spPr>
          <a:xfrm>
            <a:off x="5966460" y="5084064"/>
            <a:ext cx="256032" cy="0"/>
          </a:xfrm>
          <a:prstGeom prst="line">
            <a:avLst/>
          </a:prstGeom>
          <a:noFill/>
          <a:ln w="22225">
            <a:solidFill>
              <a:srgbClr val="5C7378"/>
            </a:solidFill>
            <a:prstDash val="solid"/>
            <a:tailEnd type="triangle"/>
          </a:ln>
        </p:spPr>
        <p:txBody>
          <a:bodyPr/>
          <a:lstStyle/>
          <a:p>
            <a:endParaRPr lang="en-IN"/>
          </a:p>
        </p:txBody>
      </p:sp>
      <p:sp>
        <p:nvSpPr>
          <p:cNvPr id="52" name="Shape 50"/>
          <p:cNvSpPr/>
          <p:nvPr/>
        </p:nvSpPr>
        <p:spPr>
          <a:xfrm>
            <a:off x="6222492" y="4754880"/>
            <a:ext cx="2580894" cy="658368"/>
          </a:xfrm>
          <a:prstGeom prst="roundRect">
            <a:avLst>
              <a:gd name="adj" fmla="val 9722"/>
            </a:avLst>
          </a:prstGeom>
          <a:solidFill>
            <a:srgbClr val="028090"/>
          </a:solidFill>
          <a:ln/>
        </p:spPr>
        <p:txBody>
          <a:bodyPr/>
          <a:lstStyle/>
          <a:p>
            <a:endParaRPr lang="en-IN"/>
          </a:p>
        </p:txBody>
      </p:sp>
      <p:sp>
        <p:nvSpPr>
          <p:cNvPr id="53" name="Text 51"/>
          <p:cNvSpPr/>
          <p:nvPr/>
        </p:nvSpPr>
        <p:spPr>
          <a:xfrm>
            <a:off x="6277356" y="475488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Real-Time Monitoring</a:t>
            </a:r>
            <a:endParaRPr lang="en-US" sz="1200" dirty="0"/>
          </a:p>
        </p:txBody>
      </p:sp>
      <p:sp>
        <p:nvSpPr>
          <p:cNvPr id="54" name="Shape 52"/>
          <p:cNvSpPr/>
          <p:nvPr/>
        </p:nvSpPr>
        <p:spPr>
          <a:xfrm>
            <a:off x="8803386" y="5084064"/>
            <a:ext cx="256032" cy="0"/>
          </a:xfrm>
          <a:prstGeom prst="line">
            <a:avLst/>
          </a:prstGeom>
          <a:noFill/>
          <a:ln w="22225">
            <a:solidFill>
              <a:srgbClr val="5C7378"/>
            </a:solidFill>
            <a:prstDash val="solid"/>
            <a:tailEnd type="triangle"/>
          </a:ln>
        </p:spPr>
        <p:txBody>
          <a:bodyPr/>
          <a:lstStyle/>
          <a:p>
            <a:endParaRPr lang="en-IN"/>
          </a:p>
        </p:txBody>
      </p:sp>
      <p:sp>
        <p:nvSpPr>
          <p:cNvPr id="55" name="Shape 53"/>
          <p:cNvSpPr/>
          <p:nvPr/>
        </p:nvSpPr>
        <p:spPr>
          <a:xfrm>
            <a:off x="9059418" y="4754880"/>
            <a:ext cx="2580894" cy="658368"/>
          </a:xfrm>
          <a:prstGeom prst="roundRect">
            <a:avLst>
              <a:gd name="adj" fmla="val 9722"/>
            </a:avLst>
          </a:prstGeom>
          <a:solidFill>
            <a:srgbClr val="02C39A"/>
          </a:solidFill>
          <a:ln/>
        </p:spPr>
        <p:txBody>
          <a:bodyPr/>
          <a:lstStyle/>
          <a:p>
            <a:endParaRPr lang="en-IN"/>
          </a:p>
        </p:txBody>
      </p:sp>
      <p:sp>
        <p:nvSpPr>
          <p:cNvPr id="56" name="Text 54"/>
          <p:cNvSpPr/>
          <p:nvPr/>
        </p:nvSpPr>
        <p:spPr>
          <a:xfrm>
            <a:off x="9114282" y="475488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Risk Prediction</a:t>
            </a:r>
            <a:endParaRPr lang="en-US" sz="1200" dirty="0"/>
          </a:p>
        </p:txBody>
      </p:sp>
      <p:sp>
        <p:nvSpPr>
          <p:cNvPr id="57" name="Shape 55"/>
          <p:cNvSpPr/>
          <p:nvPr/>
        </p:nvSpPr>
        <p:spPr>
          <a:xfrm>
            <a:off x="548640" y="5623560"/>
            <a:ext cx="2580894" cy="658368"/>
          </a:xfrm>
          <a:prstGeom prst="roundRect">
            <a:avLst>
              <a:gd name="adj" fmla="val 9722"/>
            </a:avLst>
          </a:prstGeom>
          <a:solidFill>
            <a:srgbClr val="028090"/>
          </a:solidFill>
          <a:ln/>
        </p:spPr>
        <p:txBody>
          <a:bodyPr/>
          <a:lstStyle/>
          <a:p>
            <a:endParaRPr lang="en-IN"/>
          </a:p>
        </p:txBody>
      </p:sp>
      <p:sp>
        <p:nvSpPr>
          <p:cNvPr id="58" name="Text 56"/>
          <p:cNvSpPr/>
          <p:nvPr/>
        </p:nvSpPr>
        <p:spPr>
          <a:xfrm>
            <a:off x="603504" y="562356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Alerts</a:t>
            </a:r>
            <a:endParaRPr lang="en-US" sz="1200" dirty="0"/>
          </a:p>
        </p:txBody>
      </p:sp>
      <p:sp>
        <p:nvSpPr>
          <p:cNvPr id="59" name="Shape 57"/>
          <p:cNvSpPr/>
          <p:nvPr/>
        </p:nvSpPr>
        <p:spPr>
          <a:xfrm>
            <a:off x="3129534" y="5952744"/>
            <a:ext cx="256032" cy="0"/>
          </a:xfrm>
          <a:prstGeom prst="line">
            <a:avLst/>
          </a:prstGeom>
          <a:noFill/>
          <a:ln w="22225">
            <a:solidFill>
              <a:srgbClr val="5C7378"/>
            </a:solidFill>
            <a:prstDash val="solid"/>
            <a:tailEnd type="triangle"/>
          </a:ln>
        </p:spPr>
        <p:txBody>
          <a:bodyPr/>
          <a:lstStyle/>
          <a:p>
            <a:endParaRPr lang="en-IN"/>
          </a:p>
        </p:txBody>
      </p:sp>
      <p:sp>
        <p:nvSpPr>
          <p:cNvPr id="60" name="Shape 58"/>
          <p:cNvSpPr/>
          <p:nvPr/>
        </p:nvSpPr>
        <p:spPr>
          <a:xfrm>
            <a:off x="3385566" y="5623560"/>
            <a:ext cx="2580894" cy="658368"/>
          </a:xfrm>
          <a:prstGeom prst="roundRect">
            <a:avLst>
              <a:gd name="adj" fmla="val 9722"/>
            </a:avLst>
          </a:prstGeom>
          <a:solidFill>
            <a:srgbClr val="028090"/>
          </a:solidFill>
          <a:ln/>
        </p:spPr>
        <p:txBody>
          <a:bodyPr/>
          <a:lstStyle/>
          <a:p>
            <a:endParaRPr lang="en-IN"/>
          </a:p>
        </p:txBody>
      </p:sp>
      <p:sp>
        <p:nvSpPr>
          <p:cNvPr id="61" name="Text 59"/>
          <p:cNvSpPr/>
          <p:nvPr/>
        </p:nvSpPr>
        <p:spPr>
          <a:xfrm>
            <a:off x="3440430" y="562356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Care Plan</a:t>
            </a:r>
            <a:endParaRPr lang="en-US" sz="1200" dirty="0"/>
          </a:p>
        </p:txBody>
      </p:sp>
      <p:sp>
        <p:nvSpPr>
          <p:cNvPr id="62" name="Shape 60"/>
          <p:cNvSpPr/>
          <p:nvPr/>
        </p:nvSpPr>
        <p:spPr>
          <a:xfrm>
            <a:off x="5966460" y="5952744"/>
            <a:ext cx="256032" cy="0"/>
          </a:xfrm>
          <a:prstGeom prst="line">
            <a:avLst/>
          </a:prstGeom>
          <a:noFill/>
          <a:ln w="22225">
            <a:solidFill>
              <a:srgbClr val="5C7378"/>
            </a:solidFill>
            <a:prstDash val="solid"/>
            <a:tailEnd type="triangle"/>
          </a:ln>
        </p:spPr>
        <p:txBody>
          <a:bodyPr/>
          <a:lstStyle/>
          <a:p>
            <a:endParaRPr lang="en-IN"/>
          </a:p>
        </p:txBody>
      </p:sp>
      <p:sp>
        <p:nvSpPr>
          <p:cNvPr id="63" name="Shape 61"/>
          <p:cNvSpPr/>
          <p:nvPr/>
        </p:nvSpPr>
        <p:spPr>
          <a:xfrm>
            <a:off x="6222492" y="5623560"/>
            <a:ext cx="2580894" cy="658368"/>
          </a:xfrm>
          <a:prstGeom prst="roundRect">
            <a:avLst>
              <a:gd name="adj" fmla="val 9722"/>
            </a:avLst>
          </a:prstGeom>
          <a:solidFill>
            <a:srgbClr val="028090"/>
          </a:solidFill>
          <a:ln/>
        </p:spPr>
        <p:txBody>
          <a:bodyPr/>
          <a:lstStyle/>
          <a:p>
            <a:endParaRPr lang="en-IN"/>
          </a:p>
        </p:txBody>
      </p:sp>
      <p:sp>
        <p:nvSpPr>
          <p:cNvPr id="64" name="Text 62"/>
          <p:cNvSpPr/>
          <p:nvPr/>
        </p:nvSpPr>
        <p:spPr>
          <a:xfrm>
            <a:off x="6277356" y="562356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Doctor Approval</a:t>
            </a:r>
            <a:endParaRPr lang="en-US" sz="1200" dirty="0"/>
          </a:p>
        </p:txBody>
      </p:sp>
      <p:sp>
        <p:nvSpPr>
          <p:cNvPr id="65" name="Shape 63"/>
          <p:cNvSpPr/>
          <p:nvPr/>
        </p:nvSpPr>
        <p:spPr>
          <a:xfrm>
            <a:off x="8803386" y="5952744"/>
            <a:ext cx="256032" cy="0"/>
          </a:xfrm>
          <a:prstGeom prst="line">
            <a:avLst/>
          </a:prstGeom>
          <a:noFill/>
          <a:ln w="22225">
            <a:solidFill>
              <a:srgbClr val="5C7378"/>
            </a:solidFill>
            <a:prstDash val="solid"/>
            <a:tailEnd type="triangle"/>
          </a:ln>
        </p:spPr>
        <p:txBody>
          <a:bodyPr/>
          <a:lstStyle/>
          <a:p>
            <a:endParaRPr lang="en-IN"/>
          </a:p>
        </p:txBody>
      </p:sp>
      <p:sp>
        <p:nvSpPr>
          <p:cNvPr id="66" name="Shape 64"/>
          <p:cNvSpPr/>
          <p:nvPr/>
        </p:nvSpPr>
        <p:spPr>
          <a:xfrm>
            <a:off x="9059418" y="5623560"/>
            <a:ext cx="2580894" cy="658368"/>
          </a:xfrm>
          <a:prstGeom prst="roundRect">
            <a:avLst>
              <a:gd name="adj" fmla="val 9722"/>
            </a:avLst>
          </a:prstGeom>
          <a:solidFill>
            <a:srgbClr val="02C39A"/>
          </a:solidFill>
          <a:ln/>
        </p:spPr>
        <p:txBody>
          <a:bodyPr/>
          <a:lstStyle/>
          <a:p>
            <a:endParaRPr lang="en-IN"/>
          </a:p>
        </p:txBody>
      </p:sp>
      <p:sp>
        <p:nvSpPr>
          <p:cNvPr id="67" name="Text 65"/>
          <p:cNvSpPr/>
          <p:nvPr/>
        </p:nvSpPr>
        <p:spPr>
          <a:xfrm>
            <a:off x="9114282" y="5623560"/>
            <a:ext cx="2471166"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 Follow-up</a:t>
            </a:r>
            <a:endParaRPr lang="en-US" sz="1200" dirty="0"/>
          </a:p>
        </p:txBody>
      </p:sp>
      <p:sp>
        <p:nvSpPr>
          <p:cNvPr id="68" name="Shape 66"/>
          <p:cNvSpPr/>
          <p:nvPr/>
        </p:nvSpPr>
        <p:spPr>
          <a:xfrm>
            <a:off x="10341864" y="5413248"/>
            <a:ext cx="0" cy="210312"/>
          </a:xfrm>
          <a:prstGeom prst="line">
            <a:avLst/>
          </a:prstGeom>
          <a:noFill/>
          <a:ln w="22225">
            <a:solidFill>
              <a:srgbClr val="5C7378"/>
            </a:solidFill>
            <a:prstDash val="solid"/>
            <a:tailEnd type="triangle"/>
          </a:ln>
        </p:spPr>
        <p:txBody>
          <a:bodyPr/>
          <a:lstStyle/>
          <a:p>
            <a:endParaRPr lang="en-IN"/>
          </a:p>
        </p:txBody>
      </p:sp>
      <p:sp>
        <p:nvSpPr>
          <p:cNvPr id="69" name="Text 6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USER EXPERIENCE</a:t>
            </a:r>
            <a:endParaRPr lang="en-US" sz="1200" dirty="0"/>
          </a:p>
        </p:txBody>
      </p:sp>
      <p:sp>
        <p:nvSpPr>
          <p:cNvPr id="3" name="Text 1"/>
          <p:cNvSpPr/>
          <p:nvPr/>
        </p:nvSpPr>
        <p:spPr>
          <a:xfrm>
            <a:off x="548640" y="658368"/>
            <a:ext cx="10607040" cy="685800"/>
          </a:xfrm>
          <a:prstGeom prst="rect">
            <a:avLst/>
          </a:prstGeom>
          <a:noFill/>
          <a:ln/>
        </p:spPr>
        <p:txBody>
          <a:bodyPr wrap="square" rtlCol="0" anchor="ctr"/>
          <a:lstStyle/>
          <a:p>
            <a:pPr marL="0" indent="0" algn="l">
              <a:buNone/>
            </a:pPr>
            <a:r>
              <a:rPr lang="en-US" sz="3200" b="1" dirty="0">
                <a:solidFill>
                  <a:srgbClr val="16282C"/>
                </a:solidFill>
                <a:latin typeface="Cambria" pitchFamily="34" charset="0"/>
                <a:ea typeface="Cambria" pitchFamily="34" charset="-122"/>
                <a:cs typeface="Cambria" pitchFamily="34" charset="-120"/>
              </a:rPr>
              <a:t>Patient, Doctor &amp; Admin Dashboards</a:t>
            </a:r>
            <a:endParaRPr lang="en-US" sz="3200" dirty="0"/>
          </a:p>
        </p:txBody>
      </p:sp>
      <p:sp>
        <p:nvSpPr>
          <p:cNvPr id="4" name="Text 2"/>
          <p:cNvSpPr/>
          <p:nvPr/>
        </p:nvSpPr>
        <p:spPr>
          <a:xfrm>
            <a:off x="548640" y="1234440"/>
            <a:ext cx="8686800" cy="365760"/>
          </a:xfrm>
          <a:prstGeom prst="rect">
            <a:avLst/>
          </a:prstGeom>
          <a:noFill/>
          <a:ln/>
        </p:spPr>
        <p:txBody>
          <a:bodyPr wrap="square" rtlCol="0" anchor="ctr"/>
          <a:lstStyle/>
          <a:p>
            <a:pPr marL="0" indent="0">
              <a:buNone/>
            </a:pPr>
            <a:r>
              <a:rPr lang="en-US" sz="1400" dirty="0">
                <a:solidFill>
                  <a:srgbClr val="5C7378"/>
                </a:solidFill>
                <a:latin typeface="Calibri" pitchFamily="34" charset="0"/>
                <a:ea typeface="Calibri" pitchFamily="34" charset="-122"/>
                <a:cs typeface="Calibri" pitchFamily="34" charset="-120"/>
              </a:rPr>
              <a:t>Three role-based experiences, one unified platform</a:t>
            </a:r>
            <a:endParaRPr lang="en-US" sz="1400" dirty="0"/>
          </a:p>
        </p:txBody>
      </p:sp>
      <p:sp>
        <p:nvSpPr>
          <p:cNvPr id="5" name="Shape 3"/>
          <p:cNvSpPr/>
          <p:nvPr/>
        </p:nvSpPr>
        <p:spPr>
          <a:xfrm>
            <a:off x="548640" y="1828800"/>
            <a:ext cx="3520440" cy="4434840"/>
          </a:xfrm>
          <a:prstGeom prst="roundRect">
            <a:avLst>
              <a:gd name="adj" fmla="val 3117"/>
            </a:avLst>
          </a:prstGeom>
          <a:solidFill>
            <a:srgbClr val="EFF7F6"/>
          </a:solidFill>
          <a:ln/>
        </p:spPr>
        <p:txBody>
          <a:bodyPr/>
          <a:lstStyle/>
          <a:p>
            <a:endParaRPr lang="en-IN"/>
          </a:p>
        </p:txBody>
      </p:sp>
      <p:sp>
        <p:nvSpPr>
          <p:cNvPr id="6" name="Shape 4"/>
          <p:cNvSpPr/>
          <p:nvPr/>
        </p:nvSpPr>
        <p:spPr>
          <a:xfrm>
            <a:off x="548640" y="1828800"/>
            <a:ext cx="3520440" cy="822960"/>
          </a:xfrm>
          <a:prstGeom prst="roundRect">
            <a:avLst>
              <a:gd name="adj" fmla="val 13333"/>
            </a:avLst>
          </a:prstGeom>
          <a:solidFill>
            <a:srgbClr val="028090"/>
          </a:solidFill>
          <a:ln/>
        </p:spPr>
        <p:txBody>
          <a:bodyPr/>
          <a:lstStyle/>
          <a:p>
            <a:endParaRPr lang="en-IN"/>
          </a:p>
        </p:txBody>
      </p:sp>
      <p:sp>
        <p:nvSpPr>
          <p:cNvPr id="7" name="Shape 5"/>
          <p:cNvSpPr/>
          <p:nvPr/>
        </p:nvSpPr>
        <p:spPr>
          <a:xfrm>
            <a:off x="548640" y="2240280"/>
            <a:ext cx="3520440" cy="411480"/>
          </a:xfrm>
          <a:prstGeom prst="rect">
            <a:avLst/>
          </a:prstGeom>
          <a:solidFill>
            <a:srgbClr val="028090"/>
          </a:solidFill>
          <a:ln/>
        </p:spPr>
        <p:txBody>
          <a:bodyPr/>
          <a:lstStyle/>
          <a:p>
            <a:endParaRPr lang="en-IN"/>
          </a:p>
        </p:txBody>
      </p:sp>
      <p:sp>
        <p:nvSpPr>
          <p:cNvPr id="8" name="Shape 6"/>
          <p:cNvSpPr/>
          <p:nvPr/>
        </p:nvSpPr>
        <p:spPr>
          <a:xfrm>
            <a:off x="1997964" y="1975104"/>
            <a:ext cx="621792" cy="621792"/>
          </a:xfrm>
          <a:prstGeom prst="ellipse">
            <a:avLst/>
          </a:prstGeom>
          <a:solidFill>
            <a:srgbClr val="FFFFFF"/>
          </a:solidFill>
          <a:ln/>
        </p:spPr>
        <p:txBody>
          <a:bodyPr/>
          <a:lstStyle/>
          <a:p>
            <a:endParaRPr lang="en-IN"/>
          </a:p>
        </p:txBody>
      </p:sp>
      <p:sp>
        <p:nvSpPr>
          <p:cNvPr id="9" name="Text 7"/>
          <p:cNvSpPr/>
          <p:nvPr/>
        </p:nvSpPr>
        <p:spPr>
          <a:xfrm>
            <a:off x="1997964" y="1975104"/>
            <a:ext cx="621792" cy="621792"/>
          </a:xfrm>
          <a:prstGeom prst="rect">
            <a:avLst/>
          </a:prstGeom>
          <a:noFill/>
          <a:ln/>
        </p:spPr>
        <p:txBody>
          <a:bodyPr wrap="square" rtlCol="0" anchor="ctr"/>
          <a:lstStyle/>
          <a:p>
            <a:pPr marL="0" indent="0" algn="ctr">
              <a:buNone/>
            </a:pPr>
            <a:r>
              <a:rPr lang="en-US" sz="1700" b="1" dirty="0">
                <a:solidFill>
                  <a:srgbClr val="028090"/>
                </a:solidFill>
                <a:latin typeface="Calibri" pitchFamily="34" charset="0"/>
                <a:ea typeface="Calibri" pitchFamily="34" charset="-122"/>
                <a:cs typeface="Calibri" pitchFamily="34" charset="-120"/>
              </a:rPr>
              <a:t>Pt</a:t>
            </a:r>
            <a:endParaRPr lang="en-US" sz="1700" dirty="0"/>
          </a:p>
        </p:txBody>
      </p:sp>
      <p:sp>
        <p:nvSpPr>
          <p:cNvPr id="10" name="Text 8"/>
          <p:cNvSpPr/>
          <p:nvPr/>
        </p:nvSpPr>
        <p:spPr>
          <a:xfrm>
            <a:off x="548640" y="2697480"/>
            <a:ext cx="3520440" cy="365760"/>
          </a:xfrm>
          <a:prstGeom prst="rect">
            <a:avLst/>
          </a:prstGeom>
          <a:noFill/>
          <a:ln/>
        </p:spPr>
        <p:txBody>
          <a:bodyPr wrap="square" rtlCol="0" anchor="ctr"/>
          <a:lstStyle/>
          <a:p>
            <a:pPr marL="0" indent="0" algn="ctr">
              <a:buNone/>
            </a:pPr>
            <a:r>
              <a:rPr lang="en-US" sz="1700" b="1" dirty="0">
                <a:solidFill>
                  <a:srgbClr val="16282C"/>
                </a:solidFill>
                <a:latin typeface="Cambria" pitchFamily="34" charset="0"/>
                <a:ea typeface="Cambria" pitchFamily="34" charset="-122"/>
                <a:cs typeface="Cambria" pitchFamily="34" charset="-120"/>
              </a:rPr>
              <a:t>Patient</a:t>
            </a:r>
            <a:endParaRPr lang="en-US" sz="1700" dirty="0"/>
          </a:p>
        </p:txBody>
      </p:sp>
      <p:sp>
        <p:nvSpPr>
          <p:cNvPr id="11" name="Shape 9"/>
          <p:cNvSpPr/>
          <p:nvPr/>
        </p:nvSpPr>
        <p:spPr>
          <a:xfrm>
            <a:off x="804672" y="3282696"/>
            <a:ext cx="82296" cy="82296"/>
          </a:xfrm>
          <a:prstGeom prst="ellipse">
            <a:avLst/>
          </a:prstGeom>
          <a:solidFill>
            <a:srgbClr val="028090"/>
          </a:solidFill>
          <a:ln/>
        </p:spPr>
        <p:txBody>
          <a:bodyPr/>
          <a:lstStyle/>
          <a:p>
            <a:endParaRPr lang="en-IN"/>
          </a:p>
        </p:txBody>
      </p:sp>
      <p:sp>
        <p:nvSpPr>
          <p:cNvPr id="12" name="Text 10"/>
          <p:cNvSpPr/>
          <p:nvPr/>
        </p:nvSpPr>
        <p:spPr>
          <a:xfrm>
            <a:off x="987552" y="3200400"/>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health information</a:t>
            </a:r>
            <a:endParaRPr lang="en-US" sz="1150" dirty="0"/>
          </a:p>
        </p:txBody>
      </p:sp>
      <p:sp>
        <p:nvSpPr>
          <p:cNvPr id="13" name="Shape 11"/>
          <p:cNvSpPr/>
          <p:nvPr/>
        </p:nvSpPr>
        <p:spPr>
          <a:xfrm>
            <a:off x="804672" y="3758184"/>
            <a:ext cx="82296" cy="82296"/>
          </a:xfrm>
          <a:prstGeom prst="ellipse">
            <a:avLst/>
          </a:prstGeom>
          <a:solidFill>
            <a:srgbClr val="028090"/>
          </a:solidFill>
          <a:ln/>
        </p:spPr>
        <p:txBody>
          <a:bodyPr/>
          <a:lstStyle/>
          <a:p>
            <a:endParaRPr lang="en-IN"/>
          </a:p>
        </p:txBody>
      </p:sp>
      <p:sp>
        <p:nvSpPr>
          <p:cNvPr id="14" name="Text 12"/>
          <p:cNvSpPr/>
          <p:nvPr/>
        </p:nvSpPr>
        <p:spPr>
          <a:xfrm>
            <a:off x="987552" y="3675888"/>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vitals</a:t>
            </a:r>
            <a:endParaRPr lang="en-US" sz="1150" dirty="0"/>
          </a:p>
        </p:txBody>
      </p:sp>
      <p:sp>
        <p:nvSpPr>
          <p:cNvPr id="15" name="Shape 13"/>
          <p:cNvSpPr/>
          <p:nvPr/>
        </p:nvSpPr>
        <p:spPr>
          <a:xfrm>
            <a:off x="804672" y="4233672"/>
            <a:ext cx="82296" cy="82296"/>
          </a:xfrm>
          <a:prstGeom prst="ellipse">
            <a:avLst/>
          </a:prstGeom>
          <a:solidFill>
            <a:srgbClr val="028090"/>
          </a:solidFill>
          <a:ln/>
        </p:spPr>
        <p:txBody>
          <a:bodyPr/>
          <a:lstStyle/>
          <a:p>
            <a:endParaRPr lang="en-IN"/>
          </a:p>
        </p:txBody>
      </p:sp>
      <p:sp>
        <p:nvSpPr>
          <p:cNvPr id="16" name="Text 14"/>
          <p:cNvSpPr/>
          <p:nvPr/>
        </p:nvSpPr>
        <p:spPr>
          <a:xfrm>
            <a:off x="987552" y="4151376"/>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predictions</a:t>
            </a:r>
            <a:endParaRPr lang="en-US" sz="1150" dirty="0"/>
          </a:p>
        </p:txBody>
      </p:sp>
      <p:sp>
        <p:nvSpPr>
          <p:cNvPr id="17" name="Shape 15"/>
          <p:cNvSpPr/>
          <p:nvPr/>
        </p:nvSpPr>
        <p:spPr>
          <a:xfrm>
            <a:off x="804672" y="4709160"/>
            <a:ext cx="82296" cy="82296"/>
          </a:xfrm>
          <a:prstGeom prst="ellipse">
            <a:avLst/>
          </a:prstGeom>
          <a:solidFill>
            <a:srgbClr val="028090"/>
          </a:solidFill>
          <a:ln/>
        </p:spPr>
        <p:txBody>
          <a:bodyPr/>
          <a:lstStyle/>
          <a:p>
            <a:endParaRPr lang="en-IN"/>
          </a:p>
        </p:txBody>
      </p:sp>
      <p:sp>
        <p:nvSpPr>
          <p:cNvPr id="18" name="Text 16"/>
          <p:cNvSpPr/>
          <p:nvPr/>
        </p:nvSpPr>
        <p:spPr>
          <a:xfrm>
            <a:off x="987552" y="4626864"/>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care plan</a:t>
            </a:r>
            <a:endParaRPr lang="en-US" sz="1150" dirty="0"/>
          </a:p>
        </p:txBody>
      </p:sp>
      <p:sp>
        <p:nvSpPr>
          <p:cNvPr id="19" name="Shape 17"/>
          <p:cNvSpPr/>
          <p:nvPr/>
        </p:nvSpPr>
        <p:spPr>
          <a:xfrm>
            <a:off x="804672" y="5184648"/>
            <a:ext cx="82296" cy="82296"/>
          </a:xfrm>
          <a:prstGeom prst="ellipse">
            <a:avLst/>
          </a:prstGeom>
          <a:solidFill>
            <a:srgbClr val="028090"/>
          </a:solidFill>
          <a:ln/>
        </p:spPr>
        <p:txBody>
          <a:bodyPr/>
          <a:lstStyle/>
          <a:p>
            <a:endParaRPr lang="en-IN"/>
          </a:p>
        </p:txBody>
      </p:sp>
      <p:sp>
        <p:nvSpPr>
          <p:cNvPr id="20" name="Text 18"/>
          <p:cNvSpPr/>
          <p:nvPr/>
        </p:nvSpPr>
        <p:spPr>
          <a:xfrm>
            <a:off x="987552" y="5102352"/>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Track adherence</a:t>
            </a:r>
            <a:endParaRPr lang="en-US" sz="1150" dirty="0"/>
          </a:p>
        </p:txBody>
      </p:sp>
      <p:sp>
        <p:nvSpPr>
          <p:cNvPr id="21" name="Shape 19"/>
          <p:cNvSpPr/>
          <p:nvPr/>
        </p:nvSpPr>
        <p:spPr>
          <a:xfrm>
            <a:off x="4334256" y="1828800"/>
            <a:ext cx="3520440" cy="4434840"/>
          </a:xfrm>
          <a:prstGeom prst="roundRect">
            <a:avLst>
              <a:gd name="adj" fmla="val 3117"/>
            </a:avLst>
          </a:prstGeom>
          <a:solidFill>
            <a:srgbClr val="EFF7F6"/>
          </a:solidFill>
          <a:ln/>
        </p:spPr>
        <p:txBody>
          <a:bodyPr/>
          <a:lstStyle/>
          <a:p>
            <a:endParaRPr lang="en-IN"/>
          </a:p>
        </p:txBody>
      </p:sp>
      <p:sp>
        <p:nvSpPr>
          <p:cNvPr id="22" name="Shape 20"/>
          <p:cNvSpPr/>
          <p:nvPr/>
        </p:nvSpPr>
        <p:spPr>
          <a:xfrm>
            <a:off x="4334256" y="1828800"/>
            <a:ext cx="3520440" cy="822960"/>
          </a:xfrm>
          <a:prstGeom prst="roundRect">
            <a:avLst>
              <a:gd name="adj" fmla="val 13333"/>
            </a:avLst>
          </a:prstGeom>
          <a:solidFill>
            <a:srgbClr val="00A896"/>
          </a:solidFill>
          <a:ln/>
        </p:spPr>
        <p:txBody>
          <a:bodyPr/>
          <a:lstStyle/>
          <a:p>
            <a:endParaRPr lang="en-IN"/>
          </a:p>
        </p:txBody>
      </p:sp>
      <p:sp>
        <p:nvSpPr>
          <p:cNvPr id="23" name="Shape 21"/>
          <p:cNvSpPr/>
          <p:nvPr/>
        </p:nvSpPr>
        <p:spPr>
          <a:xfrm>
            <a:off x="4334256" y="2240280"/>
            <a:ext cx="3520440" cy="411480"/>
          </a:xfrm>
          <a:prstGeom prst="rect">
            <a:avLst/>
          </a:prstGeom>
          <a:solidFill>
            <a:srgbClr val="00A896"/>
          </a:solidFill>
          <a:ln/>
        </p:spPr>
        <p:txBody>
          <a:bodyPr/>
          <a:lstStyle/>
          <a:p>
            <a:endParaRPr lang="en-IN"/>
          </a:p>
        </p:txBody>
      </p:sp>
      <p:sp>
        <p:nvSpPr>
          <p:cNvPr id="24" name="Shape 22"/>
          <p:cNvSpPr/>
          <p:nvPr/>
        </p:nvSpPr>
        <p:spPr>
          <a:xfrm>
            <a:off x="5783580" y="1975104"/>
            <a:ext cx="621792" cy="621792"/>
          </a:xfrm>
          <a:prstGeom prst="ellipse">
            <a:avLst/>
          </a:prstGeom>
          <a:solidFill>
            <a:srgbClr val="FFFFFF"/>
          </a:solidFill>
          <a:ln/>
        </p:spPr>
        <p:txBody>
          <a:bodyPr/>
          <a:lstStyle/>
          <a:p>
            <a:endParaRPr lang="en-IN"/>
          </a:p>
        </p:txBody>
      </p:sp>
      <p:sp>
        <p:nvSpPr>
          <p:cNvPr id="25" name="Text 23"/>
          <p:cNvSpPr/>
          <p:nvPr/>
        </p:nvSpPr>
        <p:spPr>
          <a:xfrm>
            <a:off x="5783580" y="1975104"/>
            <a:ext cx="621792" cy="621792"/>
          </a:xfrm>
          <a:prstGeom prst="rect">
            <a:avLst/>
          </a:prstGeom>
          <a:noFill/>
          <a:ln/>
        </p:spPr>
        <p:txBody>
          <a:bodyPr wrap="square" rtlCol="0" anchor="ctr"/>
          <a:lstStyle/>
          <a:p>
            <a:pPr marL="0" indent="0" algn="ctr">
              <a:buNone/>
            </a:pPr>
            <a:r>
              <a:rPr lang="en-US" sz="1700" b="1" dirty="0">
                <a:solidFill>
                  <a:srgbClr val="00A896"/>
                </a:solidFill>
                <a:latin typeface="Calibri" pitchFamily="34" charset="0"/>
                <a:ea typeface="Calibri" pitchFamily="34" charset="-122"/>
                <a:cs typeface="Calibri" pitchFamily="34" charset="-120"/>
              </a:rPr>
              <a:t>Dr</a:t>
            </a:r>
            <a:endParaRPr lang="en-US" sz="1700" dirty="0"/>
          </a:p>
        </p:txBody>
      </p:sp>
      <p:sp>
        <p:nvSpPr>
          <p:cNvPr id="26" name="Text 24"/>
          <p:cNvSpPr/>
          <p:nvPr/>
        </p:nvSpPr>
        <p:spPr>
          <a:xfrm>
            <a:off x="4334256" y="2697480"/>
            <a:ext cx="3520440" cy="365760"/>
          </a:xfrm>
          <a:prstGeom prst="rect">
            <a:avLst/>
          </a:prstGeom>
          <a:noFill/>
          <a:ln/>
        </p:spPr>
        <p:txBody>
          <a:bodyPr wrap="square" rtlCol="0" anchor="ctr"/>
          <a:lstStyle/>
          <a:p>
            <a:pPr marL="0" indent="0" algn="ctr">
              <a:buNone/>
            </a:pPr>
            <a:r>
              <a:rPr lang="en-US" sz="1700" b="1" dirty="0">
                <a:solidFill>
                  <a:srgbClr val="16282C"/>
                </a:solidFill>
                <a:latin typeface="Cambria" pitchFamily="34" charset="0"/>
                <a:ea typeface="Cambria" pitchFamily="34" charset="-122"/>
                <a:cs typeface="Cambria" pitchFamily="34" charset="-120"/>
              </a:rPr>
              <a:t>Doctor</a:t>
            </a:r>
            <a:endParaRPr lang="en-US" sz="1700" dirty="0"/>
          </a:p>
        </p:txBody>
      </p:sp>
      <p:sp>
        <p:nvSpPr>
          <p:cNvPr id="27" name="Shape 25"/>
          <p:cNvSpPr/>
          <p:nvPr/>
        </p:nvSpPr>
        <p:spPr>
          <a:xfrm>
            <a:off x="4590288" y="3282696"/>
            <a:ext cx="82296" cy="82296"/>
          </a:xfrm>
          <a:prstGeom prst="ellipse">
            <a:avLst/>
          </a:prstGeom>
          <a:solidFill>
            <a:srgbClr val="00A896"/>
          </a:solidFill>
          <a:ln/>
        </p:spPr>
        <p:txBody>
          <a:bodyPr/>
          <a:lstStyle/>
          <a:p>
            <a:endParaRPr lang="en-IN"/>
          </a:p>
        </p:txBody>
      </p:sp>
      <p:sp>
        <p:nvSpPr>
          <p:cNvPr id="28" name="Text 26"/>
          <p:cNvSpPr/>
          <p:nvPr/>
        </p:nvSpPr>
        <p:spPr>
          <a:xfrm>
            <a:off x="4773168" y="3200400"/>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assigned patients</a:t>
            </a:r>
            <a:endParaRPr lang="en-US" sz="1150" dirty="0"/>
          </a:p>
        </p:txBody>
      </p:sp>
      <p:sp>
        <p:nvSpPr>
          <p:cNvPr id="29" name="Shape 27"/>
          <p:cNvSpPr/>
          <p:nvPr/>
        </p:nvSpPr>
        <p:spPr>
          <a:xfrm>
            <a:off x="4590288" y="3758184"/>
            <a:ext cx="82296" cy="82296"/>
          </a:xfrm>
          <a:prstGeom prst="ellipse">
            <a:avLst/>
          </a:prstGeom>
          <a:solidFill>
            <a:srgbClr val="00A896"/>
          </a:solidFill>
          <a:ln/>
        </p:spPr>
        <p:txBody>
          <a:bodyPr/>
          <a:lstStyle/>
          <a:p>
            <a:endParaRPr lang="en-IN"/>
          </a:p>
        </p:txBody>
      </p:sp>
      <p:sp>
        <p:nvSpPr>
          <p:cNvPr id="30" name="Text 28"/>
          <p:cNvSpPr/>
          <p:nvPr/>
        </p:nvSpPr>
        <p:spPr>
          <a:xfrm>
            <a:off x="4773168" y="3675888"/>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patient health information</a:t>
            </a:r>
            <a:endParaRPr lang="en-US" sz="1150" dirty="0"/>
          </a:p>
        </p:txBody>
      </p:sp>
      <p:sp>
        <p:nvSpPr>
          <p:cNvPr id="31" name="Shape 29"/>
          <p:cNvSpPr/>
          <p:nvPr/>
        </p:nvSpPr>
        <p:spPr>
          <a:xfrm>
            <a:off x="4590288" y="4233672"/>
            <a:ext cx="82296" cy="82296"/>
          </a:xfrm>
          <a:prstGeom prst="ellipse">
            <a:avLst/>
          </a:prstGeom>
          <a:solidFill>
            <a:srgbClr val="00A896"/>
          </a:solidFill>
          <a:ln/>
        </p:spPr>
        <p:txBody>
          <a:bodyPr/>
          <a:lstStyle/>
          <a:p>
            <a:endParaRPr lang="en-IN"/>
          </a:p>
        </p:txBody>
      </p:sp>
      <p:sp>
        <p:nvSpPr>
          <p:cNvPr id="32" name="Text 30"/>
          <p:cNvSpPr/>
          <p:nvPr/>
        </p:nvSpPr>
        <p:spPr>
          <a:xfrm>
            <a:off x="4773168" y="4151376"/>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View predictions</a:t>
            </a:r>
            <a:endParaRPr lang="en-US" sz="1150" dirty="0"/>
          </a:p>
        </p:txBody>
      </p:sp>
      <p:sp>
        <p:nvSpPr>
          <p:cNvPr id="33" name="Shape 31"/>
          <p:cNvSpPr/>
          <p:nvPr/>
        </p:nvSpPr>
        <p:spPr>
          <a:xfrm>
            <a:off x="4590288" y="4709160"/>
            <a:ext cx="82296" cy="82296"/>
          </a:xfrm>
          <a:prstGeom prst="ellipse">
            <a:avLst/>
          </a:prstGeom>
          <a:solidFill>
            <a:srgbClr val="00A896"/>
          </a:solidFill>
          <a:ln/>
        </p:spPr>
        <p:txBody>
          <a:bodyPr/>
          <a:lstStyle/>
          <a:p>
            <a:endParaRPr lang="en-IN"/>
          </a:p>
        </p:txBody>
      </p:sp>
      <p:sp>
        <p:nvSpPr>
          <p:cNvPr id="34" name="Text 32"/>
          <p:cNvSpPr/>
          <p:nvPr/>
        </p:nvSpPr>
        <p:spPr>
          <a:xfrm>
            <a:off x="4773168" y="4626864"/>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Review alerts</a:t>
            </a:r>
            <a:endParaRPr lang="en-US" sz="1150" dirty="0"/>
          </a:p>
        </p:txBody>
      </p:sp>
      <p:sp>
        <p:nvSpPr>
          <p:cNvPr id="35" name="Shape 33"/>
          <p:cNvSpPr/>
          <p:nvPr/>
        </p:nvSpPr>
        <p:spPr>
          <a:xfrm>
            <a:off x="4590288" y="5184648"/>
            <a:ext cx="82296" cy="82296"/>
          </a:xfrm>
          <a:prstGeom prst="ellipse">
            <a:avLst/>
          </a:prstGeom>
          <a:solidFill>
            <a:srgbClr val="00A896"/>
          </a:solidFill>
          <a:ln/>
        </p:spPr>
        <p:txBody>
          <a:bodyPr/>
          <a:lstStyle/>
          <a:p>
            <a:endParaRPr lang="en-IN"/>
          </a:p>
        </p:txBody>
      </p:sp>
      <p:sp>
        <p:nvSpPr>
          <p:cNvPr id="36" name="Text 34"/>
          <p:cNvSpPr/>
          <p:nvPr/>
        </p:nvSpPr>
        <p:spPr>
          <a:xfrm>
            <a:off x="4773168" y="5102352"/>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Review / approve care plans</a:t>
            </a:r>
            <a:endParaRPr lang="en-US" sz="1150" dirty="0"/>
          </a:p>
        </p:txBody>
      </p:sp>
      <p:sp>
        <p:nvSpPr>
          <p:cNvPr id="37" name="Shape 35"/>
          <p:cNvSpPr/>
          <p:nvPr/>
        </p:nvSpPr>
        <p:spPr>
          <a:xfrm>
            <a:off x="4590288" y="5660136"/>
            <a:ext cx="82296" cy="82296"/>
          </a:xfrm>
          <a:prstGeom prst="ellipse">
            <a:avLst/>
          </a:prstGeom>
          <a:solidFill>
            <a:srgbClr val="00A896"/>
          </a:solidFill>
          <a:ln/>
        </p:spPr>
        <p:txBody>
          <a:bodyPr/>
          <a:lstStyle/>
          <a:p>
            <a:endParaRPr lang="en-IN"/>
          </a:p>
        </p:txBody>
      </p:sp>
      <p:sp>
        <p:nvSpPr>
          <p:cNvPr id="38" name="Text 36"/>
          <p:cNvSpPr/>
          <p:nvPr/>
        </p:nvSpPr>
        <p:spPr>
          <a:xfrm>
            <a:off x="4773168" y="5577840"/>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Monitor patient progress</a:t>
            </a:r>
            <a:endParaRPr lang="en-US" sz="1150" dirty="0"/>
          </a:p>
        </p:txBody>
      </p:sp>
      <p:sp>
        <p:nvSpPr>
          <p:cNvPr id="39" name="Shape 37"/>
          <p:cNvSpPr/>
          <p:nvPr/>
        </p:nvSpPr>
        <p:spPr>
          <a:xfrm>
            <a:off x="8119872" y="1828800"/>
            <a:ext cx="3520440" cy="4434840"/>
          </a:xfrm>
          <a:prstGeom prst="roundRect">
            <a:avLst>
              <a:gd name="adj" fmla="val 3117"/>
            </a:avLst>
          </a:prstGeom>
          <a:solidFill>
            <a:srgbClr val="EFF7F6"/>
          </a:solidFill>
          <a:ln/>
        </p:spPr>
        <p:txBody>
          <a:bodyPr/>
          <a:lstStyle/>
          <a:p>
            <a:endParaRPr lang="en-IN"/>
          </a:p>
        </p:txBody>
      </p:sp>
      <p:sp>
        <p:nvSpPr>
          <p:cNvPr id="40" name="Shape 38"/>
          <p:cNvSpPr/>
          <p:nvPr/>
        </p:nvSpPr>
        <p:spPr>
          <a:xfrm>
            <a:off x="8119872" y="1828800"/>
            <a:ext cx="3520440" cy="822960"/>
          </a:xfrm>
          <a:prstGeom prst="roundRect">
            <a:avLst>
              <a:gd name="adj" fmla="val 13333"/>
            </a:avLst>
          </a:prstGeom>
          <a:solidFill>
            <a:srgbClr val="01353D"/>
          </a:solidFill>
          <a:ln/>
        </p:spPr>
        <p:txBody>
          <a:bodyPr/>
          <a:lstStyle/>
          <a:p>
            <a:endParaRPr lang="en-IN"/>
          </a:p>
        </p:txBody>
      </p:sp>
      <p:sp>
        <p:nvSpPr>
          <p:cNvPr id="41" name="Shape 39"/>
          <p:cNvSpPr/>
          <p:nvPr/>
        </p:nvSpPr>
        <p:spPr>
          <a:xfrm>
            <a:off x="8119872" y="2240280"/>
            <a:ext cx="3520440" cy="411480"/>
          </a:xfrm>
          <a:prstGeom prst="rect">
            <a:avLst/>
          </a:prstGeom>
          <a:solidFill>
            <a:srgbClr val="01353D"/>
          </a:solidFill>
          <a:ln/>
        </p:spPr>
        <p:txBody>
          <a:bodyPr/>
          <a:lstStyle/>
          <a:p>
            <a:endParaRPr lang="en-IN"/>
          </a:p>
        </p:txBody>
      </p:sp>
      <p:sp>
        <p:nvSpPr>
          <p:cNvPr id="42" name="Shape 40"/>
          <p:cNvSpPr/>
          <p:nvPr/>
        </p:nvSpPr>
        <p:spPr>
          <a:xfrm>
            <a:off x="9569196" y="1975104"/>
            <a:ext cx="621792" cy="621792"/>
          </a:xfrm>
          <a:prstGeom prst="ellipse">
            <a:avLst/>
          </a:prstGeom>
          <a:solidFill>
            <a:srgbClr val="FFFFFF"/>
          </a:solidFill>
          <a:ln/>
        </p:spPr>
        <p:txBody>
          <a:bodyPr/>
          <a:lstStyle/>
          <a:p>
            <a:endParaRPr lang="en-IN"/>
          </a:p>
        </p:txBody>
      </p:sp>
      <p:sp>
        <p:nvSpPr>
          <p:cNvPr id="43" name="Text 41"/>
          <p:cNvSpPr/>
          <p:nvPr/>
        </p:nvSpPr>
        <p:spPr>
          <a:xfrm>
            <a:off x="9569196" y="1975104"/>
            <a:ext cx="621792" cy="621792"/>
          </a:xfrm>
          <a:prstGeom prst="rect">
            <a:avLst/>
          </a:prstGeom>
          <a:noFill/>
          <a:ln/>
        </p:spPr>
        <p:txBody>
          <a:bodyPr wrap="square" rtlCol="0" anchor="ctr"/>
          <a:lstStyle/>
          <a:p>
            <a:pPr marL="0" indent="0" algn="ctr">
              <a:buNone/>
            </a:pPr>
            <a:r>
              <a:rPr lang="en-US" sz="1700" b="1" dirty="0">
                <a:solidFill>
                  <a:srgbClr val="01353D"/>
                </a:solidFill>
                <a:latin typeface="Calibri" pitchFamily="34" charset="0"/>
                <a:ea typeface="Calibri" pitchFamily="34" charset="-122"/>
                <a:cs typeface="Calibri" pitchFamily="34" charset="-120"/>
              </a:rPr>
              <a:t>Ad</a:t>
            </a:r>
            <a:endParaRPr lang="en-US" sz="1700" dirty="0"/>
          </a:p>
        </p:txBody>
      </p:sp>
      <p:sp>
        <p:nvSpPr>
          <p:cNvPr id="44" name="Text 42"/>
          <p:cNvSpPr/>
          <p:nvPr/>
        </p:nvSpPr>
        <p:spPr>
          <a:xfrm>
            <a:off x="8119872" y="2697480"/>
            <a:ext cx="3520440" cy="365760"/>
          </a:xfrm>
          <a:prstGeom prst="rect">
            <a:avLst/>
          </a:prstGeom>
          <a:noFill/>
          <a:ln/>
        </p:spPr>
        <p:txBody>
          <a:bodyPr wrap="square" rtlCol="0" anchor="ctr"/>
          <a:lstStyle/>
          <a:p>
            <a:pPr marL="0" indent="0" algn="ctr">
              <a:buNone/>
            </a:pPr>
            <a:r>
              <a:rPr lang="en-US" sz="1700" b="1" dirty="0">
                <a:solidFill>
                  <a:srgbClr val="16282C"/>
                </a:solidFill>
                <a:latin typeface="Cambria" pitchFamily="34" charset="0"/>
                <a:ea typeface="Cambria" pitchFamily="34" charset="-122"/>
                <a:cs typeface="Cambria" pitchFamily="34" charset="-120"/>
              </a:rPr>
              <a:t>Admin</a:t>
            </a:r>
            <a:endParaRPr lang="en-US" sz="1700" dirty="0"/>
          </a:p>
        </p:txBody>
      </p:sp>
      <p:sp>
        <p:nvSpPr>
          <p:cNvPr id="45" name="Shape 43"/>
          <p:cNvSpPr/>
          <p:nvPr/>
        </p:nvSpPr>
        <p:spPr>
          <a:xfrm>
            <a:off x="8375904" y="3282696"/>
            <a:ext cx="82296" cy="82296"/>
          </a:xfrm>
          <a:prstGeom prst="ellipse">
            <a:avLst/>
          </a:prstGeom>
          <a:solidFill>
            <a:srgbClr val="01353D"/>
          </a:solidFill>
          <a:ln/>
        </p:spPr>
        <p:txBody>
          <a:bodyPr/>
          <a:lstStyle/>
          <a:p>
            <a:endParaRPr lang="en-IN"/>
          </a:p>
        </p:txBody>
      </p:sp>
      <p:sp>
        <p:nvSpPr>
          <p:cNvPr id="46" name="Text 44"/>
          <p:cNvSpPr/>
          <p:nvPr/>
        </p:nvSpPr>
        <p:spPr>
          <a:xfrm>
            <a:off x="8558784" y="3200400"/>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Manage patients</a:t>
            </a:r>
            <a:endParaRPr lang="en-US" sz="1150" dirty="0"/>
          </a:p>
        </p:txBody>
      </p:sp>
      <p:sp>
        <p:nvSpPr>
          <p:cNvPr id="47" name="Shape 45"/>
          <p:cNvSpPr/>
          <p:nvPr/>
        </p:nvSpPr>
        <p:spPr>
          <a:xfrm>
            <a:off x="8375904" y="3758184"/>
            <a:ext cx="82296" cy="82296"/>
          </a:xfrm>
          <a:prstGeom prst="ellipse">
            <a:avLst/>
          </a:prstGeom>
          <a:solidFill>
            <a:srgbClr val="01353D"/>
          </a:solidFill>
          <a:ln/>
        </p:spPr>
        <p:txBody>
          <a:bodyPr/>
          <a:lstStyle/>
          <a:p>
            <a:endParaRPr lang="en-IN"/>
          </a:p>
        </p:txBody>
      </p:sp>
      <p:sp>
        <p:nvSpPr>
          <p:cNvPr id="48" name="Text 46"/>
          <p:cNvSpPr/>
          <p:nvPr/>
        </p:nvSpPr>
        <p:spPr>
          <a:xfrm>
            <a:off x="8558784" y="3675888"/>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Manage doctors</a:t>
            </a:r>
            <a:endParaRPr lang="en-US" sz="1150" dirty="0"/>
          </a:p>
        </p:txBody>
      </p:sp>
      <p:sp>
        <p:nvSpPr>
          <p:cNvPr id="49" name="Shape 47"/>
          <p:cNvSpPr/>
          <p:nvPr/>
        </p:nvSpPr>
        <p:spPr>
          <a:xfrm>
            <a:off x="8375904" y="4233672"/>
            <a:ext cx="82296" cy="82296"/>
          </a:xfrm>
          <a:prstGeom prst="ellipse">
            <a:avLst/>
          </a:prstGeom>
          <a:solidFill>
            <a:srgbClr val="01353D"/>
          </a:solidFill>
          <a:ln/>
        </p:spPr>
        <p:txBody>
          <a:bodyPr/>
          <a:lstStyle/>
          <a:p>
            <a:endParaRPr lang="en-IN"/>
          </a:p>
        </p:txBody>
      </p:sp>
      <p:sp>
        <p:nvSpPr>
          <p:cNvPr id="50" name="Text 48"/>
          <p:cNvSpPr/>
          <p:nvPr/>
        </p:nvSpPr>
        <p:spPr>
          <a:xfrm>
            <a:off x="8558784" y="4151376"/>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Assign doctors to patients</a:t>
            </a:r>
            <a:endParaRPr lang="en-US" sz="1150" dirty="0"/>
          </a:p>
        </p:txBody>
      </p:sp>
      <p:sp>
        <p:nvSpPr>
          <p:cNvPr id="51" name="Shape 49"/>
          <p:cNvSpPr/>
          <p:nvPr/>
        </p:nvSpPr>
        <p:spPr>
          <a:xfrm>
            <a:off x="8375904" y="4709160"/>
            <a:ext cx="82296" cy="82296"/>
          </a:xfrm>
          <a:prstGeom prst="ellipse">
            <a:avLst/>
          </a:prstGeom>
          <a:solidFill>
            <a:srgbClr val="01353D"/>
          </a:solidFill>
          <a:ln/>
        </p:spPr>
        <p:txBody>
          <a:bodyPr/>
          <a:lstStyle/>
          <a:p>
            <a:endParaRPr lang="en-IN"/>
          </a:p>
        </p:txBody>
      </p:sp>
      <p:sp>
        <p:nvSpPr>
          <p:cNvPr id="52" name="Text 50"/>
          <p:cNvSpPr/>
          <p:nvPr/>
        </p:nvSpPr>
        <p:spPr>
          <a:xfrm>
            <a:off x="8558784" y="4626864"/>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Manage ML models</a:t>
            </a:r>
            <a:endParaRPr lang="en-US" sz="1150" dirty="0"/>
          </a:p>
        </p:txBody>
      </p:sp>
      <p:sp>
        <p:nvSpPr>
          <p:cNvPr id="53" name="Shape 51"/>
          <p:cNvSpPr/>
          <p:nvPr/>
        </p:nvSpPr>
        <p:spPr>
          <a:xfrm>
            <a:off x="8375904" y="5184648"/>
            <a:ext cx="82296" cy="82296"/>
          </a:xfrm>
          <a:prstGeom prst="ellipse">
            <a:avLst/>
          </a:prstGeom>
          <a:solidFill>
            <a:srgbClr val="01353D"/>
          </a:solidFill>
          <a:ln/>
        </p:spPr>
        <p:txBody>
          <a:bodyPr/>
          <a:lstStyle/>
          <a:p>
            <a:endParaRPr lang="en-IN"/>
          </a:p>
        </p:txBody>
      </p:sp>
      <p:sp>
        <p:nvSpPr>
          <p:cNvPr id="54" name="Text 52"/>
          <p:cNvSpPr/>
          <p:nvPr/>
        </p:nvSpPr>
        <p:spPr>
          <a:xfrm>
            <a:off x="8558784" y="5102352"/>
            <a:ext cx="2880360" cy="384048"/>
          </a:xfrm>
          <a:prstGeom prst="rect">
            <a:avLst/>
          </a:prstGeom>
          <a:noFill/>
          <a:ln/>
        </p:spPr>
        <p:txBody>
          <a:bodyPr wrap="square" lIns="0" tIns="0" rIns="0" bIns="0" rtlCol="0" anchor="t"/>
          <a:lstStyle/>
          <a:p>
            <a:pPr marL="0" indent="0">
              <a:buNone/>
            </a:pPr>
            <a:r>
              <a:rPr lang="en-US" sz="1150" dirty="0">
                <a:solidFill>
                  <a:srgbClr val="16282C"/>
                </a:solidFill>
                <a:latin typeface="Calibri" pitchFamily="34" charset="0"/>
                <a:ea typeface="Calibri" pitchFamily="34" charset="-122"/>
                <a:cs typeface="Calibri" pitchFamily="34" charset="-120"/>
              </a:rPr>
              <a:t>Manage alerts</a:t>
            </a:r>
            <a:endParaRPr lang="en-US" sz="1150" dirty="0"/>
          </a:p>
        </p:txBody>
      </p:sp>
      <p:sp>
        <p:nvSpPr>
          <p:cNvPr id="55" name="Text 5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3749040" cy="749808"/>
          </a:xfrm>
          <a:prstGeom prst="roundRect">
            <a:avLst>
              <a:gd name="adj" fmla="val 17073"/>
            </a:avLst>
          </a:prstGeom>
          <a:solidFill>
            <a:srgbClr val="01353D"/>
          </a:solidFill>
          <a:ln/>
        </p:spPr>
        <p:txBody>
          <a:bodyPr/>
          <a:lstStyle/>
          <a:p>
            <a:endParaRPr lang="en-IN"/>
          </a:p>
        </p:txBody>
      </p:sp>
      <p:sp>
        <p:nvSpPr>
          <p:cNvPr id="3" name="Text 1"/>
          <p:cNvSpPr/>
          <p:nvPr/>
        </p:nvSpPr>
        <p:spPr>
          <a:xfrm>
            <a:off x="548640" y="448056"/>
            <a:ext cx="3749040" cy="274320"/>
          </a:xfrm>
          <a:prstGeom prst="rect">
            <a:avLst/>
          </a:prstGeom>
          <a:noFill/>
          <a:ln/>
        </p:spPr>
        <p:txBody>
          <a:bodyPr wrap="square" lIns="0" tIns="0" rIns="0" bIns="0" rtlCol="0" anchor="ctr"/>
          <a:lstStyle/>
          <a:p>
            <a:pPr marL="0" indent="0" algn="ctr">
              <a:buNone/>
            </a:pPr>
            <a:r>
              <a:rPr lang="en-US" sz="1250" b="1" kern="0" spc="100" dirty="0">
                <a:solidFill>
                  <a:srgbClr val="02C39A"/>
                </a:solidFill>
                <a:latin typeface="Calibri" pitchFamily="34" charset="0"/>
                <a:ea typeface="Calibri" pitchFamily="34" charset="-122"/>
                <a:cs typeface="Calibri" pitchFamily="34" charset="-120"/>
              </a:rPr>
              <a:t>MILESTONE 1</a:t>
            </a:r>
            <a:endParaRPr lang="en-US" sz="1250" dirty="0"/>
          </a:p>
        </p:txBody>
      </p:sp>
      <p:sp>
        <p:nvSpPr>
          <p:cNvPr id="4" name="Text 2"/>
          <p:cNvSpPr/>
          <p:nvPr/>
        </p:nvSpPr>
        <p:spPr>
          <a:xfrm>
            <a:off x="685800" y="731520"/>
            <a:ext cx="347472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Digital Health Twin Foundation</a:t>
            </a:r>
            <a:endParaRPr lang="en-US" sz="1400" dirty="0"/>
          </a:p>
        </p:txBody>
      </p:sp>
      <p:sp>
        <p:nvSpPr>
          <p:cNvPr id="5" name="Text 3"/>
          <p:cNvSpPr/>
          <p:nvPr/>
        </p:nvSpPr>
        <p:spPr>
          <a:xfrm>
            <a:off x="548640" y="1261872"/>
            <a:ext cx="8229600" cy="365760"/>
          </a:xfrm>
          <a:prstGeom prst="rect">
            <a:avLst/>
          </a:prstGeom>
          <a:noFill/>
          <a:ln/>
        </p:spPr>
        <p:txBody>
          <a:bodyPr wrap="square" rtlCol="0" anchor="ctr"/>
          <a:lstStyle/>
          <a:p>
            <a:pPr marL="0" indent="0">
              <a:buNone/>
            </a:pPr>
            <a:r>
              <a:rPr lang="en-US" sz="2000" b="1" dirty="0">
                <a:solidFill>
                  <a:srgbClr val="16282C"/>
                </a:solidFill>
                <a:latin typeface="Cambria" pitchFamily="34" charset="0"/>
                <a:ea typeface="Cambria" pitchFamily="34" charset="-122"/>
                <a:cs typeface="Cambria" pitchFamily="34" charset="-120"/>
              </a:rPr>
              <a:t>Core Platform, Patient Data &amp; Identity</a:t>
            </a:r>
            <a:endParaRPr lang="en-US" sz="2000" dirty="0"/>
          </a:p>
        </p:txBody>
      </p:sp>
      <p:sp>
        <p:nvSpPr>
          <p:cNvPr id="6" name="Text 4"/>
          <p:cNvSpPr/>
          <p:nvPr/>
        </p:nvSpPr>
        <p:spPr>
          <a:xfrm>
            <a:off x="548640" y="1691640"/>
            <a:ext cx="5394960" cy="3520440"/>
          </a:xfrm>
          <a:prstGeom prst="rect">
            <a:avLst/>
          </a:prstGeom>
          <a:noFill/>
          <a:ln/>
        </p:spPr>
        <p:txBody>
          <a:bodyPr wrap="square" lIns="0" tIns="0" rIns="0" bIns="0" rtlCol="0" anchor="t"/>
          <a:lstStyle/>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Built patient management functionality</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Established the Digital Health Twin concept</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Developed Spring Boot microservices</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Implemented REST APIs across services</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Integrated MongoDB for twin &amp; patient data</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Implemented FHIR resources for patient and observation data</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Created React-based patient / doctor interfaces</a:t>
            </a:r>
            <a:endParaRPr lang="en-US" sz="1200" dirty="0"/>
          </a:p>
          <a:p>
            <a:pPr marL="228600" indent="-228600">
              <a:spcAft>
                <a:spcPts val="800"/>
              </a:spcAft>
              <a:buSzPct val="100000"/>
              <a:buChar char="▪"/>
            </a:pPr>
            <a:r>
              <a:rPr lang="en-US" sz="1200" dirty="0">
                <a:solidFill>
                  <a:srgbClr val="16282C"/>
                </a:solidFill>
                <a:latin typeface="Calibri" pitchFamily="34" charset="0"/>
                <a:ea typeface="Calibri" pitchFamily="34" charset="-122"/>
                <a:cs typeface="Calibri" pitchFamily="34" charset="-120"/>
              </a:rPr>
              <a:t>Added authentication &amp; role-based access with Keycloak</a:t>
            </a:r>
            <a:endParaRPr lang="en-US" sz="1200" dirty="0"/>
          </a:p>
        </p:txBody>
      </p:sp>
      <p:sp>
        <p:nvSpPr>
          <p:cNvPr id="7" name="Text 5"/>
          <p:cNvSpPr/>
          <p:nvPr/>
        </p:nvSpPr>
        <p:spPr>
          <a:xfrm>
            <a:off x="548640" y="4700000"/>
            <a:ext cx="365760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Key Services</a:t>
            </a:r>
            <a:endParaRPr lang="en-US" sz="1250" dirty="0"/>
          </a:p>
        </p:txBody>
      </p:sp>
      <p:sp>
        <p:nvSpPr>
          <p:cNvPr id="8" name="Shape 6"/>
          <p:cNvSpPr/>
          <p:nvPr/>
        </p:nvSpPr>
        <p:spPr>
          <a:xfrm>
            <a:off x="548640" y="5020040"/>
            <a:ext cx="1371600" cy="365760"/>
          </a:xfrm>
          <a:prstGeom prst="roundRect">
            <a:avLst>
              <a:gd name="adj" fmla="val 50000"/>
            </a:avLst>
          </a:prstGeom>
          <a:solidFill>
            <a:srgbClr val="028090"/>
          </a:solidFill>
          <a:ln/>
        </p:spPr>
        <p:txBody>
          <a:bodyPr/>
          <a:lstStyle/>
          <a:p>
            <a:endParaRPr lang="en-IN"/>
          </a:p>
        </p:txBody>
      </p:sp>
      <p:sp>
        <p:nvSpPr>
          <p:cNvPr id="9" name="Text 7"/>
          <p:cNvSpPr/>
          <p:nvPr/>
        </p:nvSpPr>
        <p:spPr>
          <a:xfrm>
            <a:off x="548640" y="5020040"/>
            <a:ext cx="137160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Patient Service</a:t>
            </a:r>
            <a:endParaRPr lang="en-US" sz="950" dirty="0"/>
          </a:p>
        </p:txBody>
      </p:sp>
      <p:sp>
        <p:nvSpPr>
          <p:cNvPr id="10" name="Shape 8"/>
          <p:cNvSpPr/>
          <p:nvPr/>
        </p:nvSpPr>
        <p:spPr>
          <a:xfrm>
            <a:off x="2029968" y="5020040"/>
            <a:ext cx="1691640" cy="365760"/>
          </a:xfrm>
          <a:prstGeom prst="roundRect">
            <a:avLst>
              <a:gd name="adj" fmla="val 50000"/>
            </a:avLst>
          </a:prstGeom>
          <a:solidFill>
            <a:srgbClr val="00A896"/>
          </a:solidFill>
          <a:ln/>
        </p:spPr>
        <p:txBody>
          <a:bodyPr/>
          <a:lstStyle/>
          <a:p>
            <a:endParaRPr lang="en-IN"/>
          </a:p>
        </p:txBody>
      </p:sp>
      <p:sp>
        <p:nvSpPr>
          <p:cNvPr id="11" name="Text 9"/>
          <p:cNvSpPr/>
          <p:nvPr/>
        </p:nvSpPr>
        <p:spPr>
          <a:xfrm>
            <a:off x="2029968" y="5020040"/>
            <a:ext cx="169164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Health Twin Service</a:t>
            </a:r>
            <a:endParaRPr lang="en-US" sz="950" dirty="0"/>
          </a:p>
        </p:txBody>
      </p:sp>
      <p:sp>
        <p:nvSpPr>
          <p:cNvPr id="12" name="Shape 10"/>
          <p:cNvSpPr/>
          <p:nvPr/>
        </p:nvSpPr>
        <p:spPr>
          <a:xfrm>
            <a:off x="3831336" y="5020040"/>
            <a:ext cx="1143000" cy="365760"/>
          </a:xfrm>
          <a:prstGeom prst="roundRect">
            <a:avLst>
              <a:gd name="adj" fmla="val 50000"/>
            </a:avLst>
          </a:prstGeom>
          <a:solidFill>
            <a:srgbClr val="028090"/>
          </a:solidFill>
          <a:ln/>
        </p:spPr>
        <p:txBody>
          <a:bodyPr/>
          <a:lstStyle/>
          <a:p>
            <a:endParaRPr lang="en-IN"/>
          </a:p>
        </p:txBody>
      </p:sp>
      <p:sp>
        <p:nvSpPr>
          <p:cNvPr id="13" name="Text 11"/>
          <p:cNvSpPr/>
          <p:nvPr/>
        </p:nvSpPr>
        <p:spPr>
          <a:xfrm>
            <a:off x="3831336" y="5020040"/>
            <a:ext cx="114300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FHIR Service</a:t>
            </a:r>
            <a:endParaRPr lang="en-US" sz="950" dirty="0"/>
          </a:p>
        </p:txBody>
      </p:sp>
      <p:sp>
        <p:nvSpPr>
          <p:cNvPr id="14" name="Shape 12"/>
          <p:cNvSpPr/>
          <p:nvPr/>
        </p:nvSpPr>
        <p:spPr>
          <a:xfrm>
            <a:off x="548640" y="5477240"/>
            <a:ext cx="1097280" cy="365760"/>
          </a:xfrm>
          <a:prstGeom prst="roundRect">
            <a:avLst>
              <a:gd name="adj" fmla="val 50000"/>
            </a:avLst>
          </a:prstGeom>
          <a:solidFill>
            <a:srgbClr val="00A896"/>
          </a:solidFill>
          <a:ln/>
        </p:spPr>
        <p:txBody>
          <a:bodyPr/>
          <a:lstStyle/>
          <a:p>
            <a:endParaRPr lang="en-IN"/>
          </a:p>
        </p:txBody>
      </p:sp>
      <p:sp>
        <p:nvSpPr>
          <p:cNvPr id="15" name="Text 13"/>
          <p:cNvSpPr/>
          <p:nvPr/>
        </p:nvSpPr>
        <p:spPr>
          <a:xfrm>
            <a:off x="548640" y="5477240"/>
            <a:ext cx="109728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Auth Service</a:t>
            </a:r>
            <a:endParaRPr lang="en-US" sz="950" dirty="0"/>
          </a:p>
        </p:txBody>
      </p:sp>
      <p:sp>
        <p:nvSpPr>
          <p:cNvPr id="16" name="Shape 14"/>
          <p:cNvSpPr/>
          <p:nvPr/>
        </p:nvSpPr>
        <p:spPr>
          <a:xfrm>
            <a:off x="1755648" y="5477240"/>
            <a:ext cx="1234440" cy="365760"/>
          </a:xfrm>
          <a:prstGeom prst="roundRect">
            <a:avLst>
              <a:gd name="adj" fmla="val 50000"/>
            </a:avLst>
          </a:prstGeom>
          <a:solidFill>
            <a:srgbClr val="028090"/>
          </a:solidFill>
          <a:ln/>
        </p:spPr>
        <p:txBody>
          <a:bodyPr/>
          <a:lstStyle/>
          <a:p>
            <a:endParaRPr lang="en-IN"/>
          </a:p>
        </p:txBody>
      </p:sp>
      <p:sp>
        <p:nvSpPr>
          <p:cNvPr id="17" name="Text 15"/>
          <p:cNvSpPr/>
          <p:nvPr/>
        </p:nvSpPr>
        <p:spPr>
          <a:xfrm>
            <a:off x="1755648" y="5477240"/>
            <a:ext cx="123444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API Gateway</a:t>
            </a:r>
            <a:endParaRPr lang="en-US" sz="950" dirty="0"/>
          </a:p>
        </p:txBody>
      </p:sp>
      <p:sp>
        <p:nvSpPr>
          <p:cNvPr id="27" name="Text 25"/>
          <p:cNvSpPr/>
          <p:nvPr/>
        </p:nvSpPr>
        <p:spPr>
          <a:xfrm>
            <a:off x="6812280" y="2990088"/>
            <a:ext cx="429768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Auth Service (Keycloak)</a:t>
            </a:r>
            <a:endParaRPr lang="en-US" sz="1050" dirty="0"/>
          </a:p>
        </p:txBody>
      </p:sp>
      <p:sp>
        <p:nvSpPr>
          <p:cNvPr id="30" name="Text 28"/>
          <p:cNvSpPr/>
          <p:nvPr/>
        </p:nvSpPr>
        <p:spPr>
          <a:xfrm>
            <a:off x="6812280" y="3410712"/>
            <a:ext cx="429768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Patient Service</a:t>
            </a:r>
            <a:endParaRPr lang="en-US" sz="1050" dirty="0"/>
          </a:p>
        </p:txBody>
      </p:sp>
      <p:sp>
        <p:nvSpPr>
          <p:cNvPr id="33" name="Text 31"/>
          <p:cNvSpPr/>
          <p:nvPr/>
        </p:nvSpPr>
        <p:spPr>
          <a:xfrm>
            <a:off x="6812280" y="3831336"/>
            <a:ext cx="429768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Health Twin Service</a:t>
            </a:r>
            <a:endParaRPr lang="en-US" sz="1050" dirty="0"/>
          </a:p>
        </p:txBody>
      </p:sp>
      <p:sp>
        <p:nvSpPr>
          <p:cNvPr id="39" name="Text 37"/>
          <p:cNvSpPr/>
          <p:nvPr/>
        </p:nvSpPr>
        <p:spPr>
          <a:xfrm>
            <a:off x="6812280" y="4672584"/>
            <a:ext cx="429768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MongoDB</a:t>
            </a:r>
            <a:endParaRPr lang="en-US" sz="1050" dirty="0"/>
          </a:p>
        </p:txBody>
      </p:sp>
      <p:sp>
        <p:nvSpPr>
          <p:cNvPr id="41" name="Text 39"/>
          <p:cNvSpPr/>
          <p:nvPr/>
        </p:nvSpPr>
        <p:spPr>
          <a:xfrm>
            <a:off x="6446520" y="5806440"/>
            <a:ext cx="5029200" cy="685800"/>
          </a:xfrm>
          <a:prstGeom prst="rect">
            <a:avLst/>
          </a:prstGeom>
          <a:noFill/>
          <a:ln/>
        </p:spPr>
        <p:txBody>
          <a:bodyPr wrap="square" lIns="0" tIns="0" rIns="0" bIns="0" rtlCol="0" anchor="ctr"/>
          <a:lstStyle/>
          <a:p>
            <a:pPr marL="0" indent="0" algn="ctr">
              <a:buNone/>
            </a:pPr>
            <a:endParaRPr lang="en-US" sz="1050" dirty="0"/>
          </a:p>
        </p:txBody>
      </p:sp>
      <p:sp>
        <p:nvSpPr>
          <p:cNvPr id="42" name="Text 4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04</a:t>
            </a:r>
            <a:endParaRPr lang="en-US" sz="1000" dirty="0"/>
          </a:p>
        </p:txBody>
      </p:sp>
      <p:pic>
        <p:nvPicPr>
          <p:cNvPr id="44" name="Picture 43">
            <a:extLst>
              <a:ext uri="{FF2B5EF4-FFF2-40B4-BE49-F238E27FC236}">
                <a16:creationId xmlns:a16="http://schemas.microsoft.com/office/drawing/2014/main" id="{76685415-533F-C075-1B25-362D338DC0D8}"/>
              </a:ext>
            </a:extLst>
          </p:cNvPr>
          <p:cNvPicPr>
            <a:picLocks noChangeAspect="1"/>
          </p:cNvPicPr>
          <p:nvPr/>
        </p:nvPicPr>
        <p:blipFill>
          <a:blip r:embed="rId3"/>
          <a:stretch>
            <a:fillRect/>
          </a:stretch>
        </p:blipFill>
        <p:spPr>
          <a:xfrm>
            <a:off x="5084064" y="365760"/>
            <a:ext cx="6994804" cy="6126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3840480" cy="749808"/>
          </a:xfrm>
          <a:prstGeom prst="roundRect">
            <a:avLst>
              <a:gd name="adj" fmla="val 17073"/>
            </a:avLst>
          </a:prstGeom>
          <a:solidFill>
            <a:srgbClr val="01353D"/>
          </a:solidFill>
          <a:ln/>
        </p:spPr>
        <p:txBody>
          <a:bodyPr/>
          <a:lstStyle/>
          <a:p>
            <a:endParaRPr lang="en-IN"/>
          </a:p>
        </p:txBody>
      </p:sp>
      <p:sp>
        <p:nvSpPr>
          <p:cNvPr id="3" name="Text 1"/>
          <p:cNvSpPr/>
          <p:nvPr/>
        </p:nvSpPr>
        <p:spPr>
          <a:xfrm>
            <a:off x="548640" y="448056"/>
            <a:ext cx="3840480" cy="274320"/>
          </a:xfrm>
          <a:prstGeom prst="rect">
            <a:avLst/>
          </a:prstGeom>
          <a:noFill/>
          <a:ln/>
        </p:spPr>
        <p:txBody>
          <a:bodyPr wrap="square" lIns="0" tIns="0" rIns="0" bIns="0" rtlCol="0" anchor="ctr"/>
          <a:lstStyle/>
          <a:p>
            <a:pPr marL="0" indent="0" algn="ctr">
              <a:buNone/>
            </a:pPr>
            <a:r>
              <a:rPr lang="en-US" sz="1250" b="1" kern="0" spc="100" dirty="0">
                <a:solidFill>
                  <a:srgbClr val="02C39A"/>
                </a:solidFill>
                <a:latin typeface="Calibri" pitchFamily="34" charset="0"/>
                <a:ea typeface="Calibri" pitchFamily="34" charset="-122"/>
                <a:cs typeface="Calibri" pitchFamily="34" charset="-120"/>
              </a:rPr>
              <a:t>MILESTONE 2</a:t>
            </a:r>
            <a:endParaRPr lang="en-US" sz="1250" dirty="0"/>
          </a:p>
        </p:txBody>
      </p:sp>
      <p:sp>
        <p:nvSpPr>
          <p:cNvPr id="4" name="Text 2"/>
          <p:cNvSpPr/>
          <p:nvPr/>
        </p:nvSpPr>
        <p:spPr>
          <a:xfrm>
            <a:off x="685800" y="731520"/>
            <a:ext cx="356616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AI-Based Health Risk Prediction</a:t>
            </a:r>
            <a:endParaRPr lang="en-US" sz="1400" dirty="0"/>
          </a:p>
        </p:txBody>
      </p:sp>
      <p:sp>
        <p:nvSpPr>
          <p:cNvPr id="5" name="Text 3"/>
          <p:cNvSpPr/>
          <p:nvPr/>
        </p:nvSpPr>
        <p:spPr>
          <a:xfrm>
            <a:off x="548640" y="1261872"/>
            <a:ext cx="9144000" cy="365760"/>
          </a:xfrm>
          <a:prstGeom prst="rect">
            <a:avLst/>
          </a:prstGeom>
          <a:noFill/>
          <a:ln/>
        </p:spPr>
        <p:txBody>
          <a:bodyPr wrap="square" rtlCol="0" anchor="ctr"/>
          <a:lstStyle/>
          <a:p>
            <a:pPr marL="0" indent="0">
              <a:buNone/>
            </a:pPr>
            <a:r>
              <a:rPr lang="en-US" sz="2000" b="1" dirty="0">
                <a:solidFill>
                  <a:srgbClr val="16282C"/>
                </a:solidFill>
                <a:latin typeface="Cambria" pitchFamily="34" charset="0"/>
                <a:ea typeface="Cambria" pitchFamily="34" charset="-122"/>
                <a:cs typeface="Cambria" pitchFamily="34" charset="-120"/>
              </a:rPr>
              <a:t>Machine Learning Models &amp; Model Management</a:t>
            </a:r>
            <a:endParaRPr lang="en-US" sz="2000" dirty="0"/>
          </a:p>
        </p:txBody>
      </p:sp>
      <p:sp>
        <p:nvSpPr>
          <p:cNvPr id="6" name="Text 4"/>
          <p:cNvSpPr/>
          <p:nvPr/>
        </p:nvSpPr>
        <p:spPr>
          <a:xfrm>
            <a:off x="548640" y="1737360"/>
            <a:ext cx="365760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Prediction Models</a:t>
            </a:r>
            <a:endParaRPr lang="en-US" sz="1250" dirty="0"/>
          </a:p>
        </p:txBody>
      </p:sp>
      <p:sp>
        <p:nvSpPr>
          <p:cNvPr id="7" name="Shape 5"/>
          <p:cNvSpPr/>
          <p:nvPr/>
        </p:nvSpPr>
        <p:spPr>
          <a:xfrm>
            <a:off x="548640" y="2057400"/>
            <a:ext cx="5212080" cy="402336"/>
          </a:xfrm>
          <a:prstGeom prst="roundRect">
            <a:avLst>
              <a:gd name="adj" fmla="val 18182"/>
            </a:avLst>
          </a:prstGeom>
          <a:solidFill>
            <a:srgbClr val="EFF7F6"/>
          </a:solidFill>
          <a:ln/>
        </p:spPr>
        <p:txBody>
          <a:bodyPr/>
          <a:lstStyle/>
          <a:p>
            <a:endParaRPr lang="en-IN"/>
          </a:p>
        </p:txBody>
      </p:sp>
      <p:sp>
        <p:nvSpPr>
          <p:cNvPr id="8" name="Shape 6"/>
          <p:cNvSpPr/>
          <p:nvPr/>
        </p:nvSpPr>
        <p:spPr>
          <a:xfrm>
            <a:off x="658368" y="2112264"/>
            <a:ext cx="292608" cy="292608"/>
          </a:xfrm>
          <a:prstGeom prst="ellipse">
            <a:avLst/>
          </a:prstGeom>
          <a:solidFill>
            <a:srgbClr val="028090"/>
          </a:solidFill>
          <a:ln/>
        </p:spPr>
        <p:txBody>
          <a:bodyPr/>
          <a:lstStyle/>
          <a:p>
            <a:endParaRPr lang="en-IN"/>
          </a:p>
        </p:txBody>
      </p:sp>
      <p:sp>
        <p:nvSpPr>
          <p:cNvPr id="9" name="Text 7"/>
          <p:cNvSpPr/>
          <p:nvPr/>
        </p:nvSpPr>
        <p:spPr>
          <a:xfrm>
            <a:off x="658368" y="2112264"/>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0" name="Text 8"/>
          <p:cNvSpPr/>
          <p:nvPr/>
        </p:nvSpPr>
        <p:spPr>
          <a:xfrm>
            <a:off x="1097280" y="2057400"/>
            <a:ext cx="4572000" cy="402336"/>
          </a:xfrm>
          <a:prstGeom prst="rect">
            <a:avLst/>
          </a:prstGeom>
          <a:noFill/>
          <a:ln/>
        </p:spPr>
        <p:txBody>
          <a:bodyPr wrap="square" lIns="0" tIns="0" rIns="0" bIns="0" rtlCol="0" anchor="ctr"/>
          <a:lstStyle/>
          <a:p>
            <a:pPr marL="0" indent="0">
              <a:buNone/>
            </a:pPr>
            <a:r>
              <a:rPr lang="en-US" sz="1250" b="1" dirty="0">
                <a:solidFill>
                  <a:srgbClr val="16282C"/>
                </a:solidFill>
                <a:latin typeface="Calibri" pitchFamily="34" charset="0"/>
                <a:ea typeface="Calibri" pitchFamily="34" charset="-122"/>
                <a:cs typeface="Calibri" pitchFamily="34" charset="-120"/>
              </a:rPr>
              <a:t>Diabetes Prediction</a:t>
            </a:r>
            <a:endParaRPr lang="en-US" sz="1250" dirty="0"/>
          </a:p>
        </p:txBody>
      </p:sp>
      <p:sp>
        <p:nvSpPr>
          <p:cNvPr id="11" name="Shape 9"/>
          <p:cNvSpPr/>
          <p:nvPr/>
        </p:nvSpPr>
        <p:spPr>
          <a:xfrm>
            <a:off x="548640" y="2560320"/>
            <a:ext cx="5212080" cy="402336"/>
          </a:xfrm>
          <a:prstGeom prst="roundRect">
            <a:avLst>
              <a:gd name="adj" fmla="val 18182"/>
            </a:avLst>
          </a:prstGeom>
          <a:solidFill>
            <a:srgbClr val="EFF7F6"/>
          </a:solidFill>
          <a:ln/>
        </p:spPr>
        <p:txBody>
          <a:bodyPr/>
          <a:lstStyle/>
          <a:p>
            <a:endParaRPr lang="en-IN"/>
          </a:p>
        </p:txBody>
      </p:sp>
      <p:sp>
        <p:nvSpPr>
          <p:cNvPr id="12" name="Shape 10"/>
          <p:cNvSpPr/>
          <p:nvPr/>
        </p:nvSpPr>
        <p:spPr>
          <a:xfrm>
            <a:off x="658368" y="2615184"/>
            <a:ext cx="292608" cy="292608"/>
          </a:xfrm>
          <a:prstGeom prst="ellipse">
            <a:avLst/>
          </a:prstGeom>
          <a:solidFill>
            <a:srgbClr val="00A896"/>
          </a:solidFill>
          <a:ln/>
        </p:spPr>
        <p:txBody>
          <a:bodyPr/>
          <a:lstStyle/>
          <a:p>
            <a:endParaRPr lang="en-IN"/>
          </a:p>
        </p:txBody>
      </p:sp>
      <p:sp>
        <p:nvSpPr>
          <p:cNvPr id="13" name="Text 11"/>
          <p:cNvSpPr/>
          <p:nvPr/>
        </p:nvSpPr>
        <p:spPr>
          <a:xfrm>
            <a:off x="658368" y="2615184"/>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t>
            </a:r>
            <a:endParaRPr lang="en-US" sz="1300" dirty="0"/>
          </a:p>
        </p:txBody>
      </p:sp>
      <p:sp>
        <p:nvSpPr>
          <p:cNvPr id="14" name="Text 12"/>
          <p:cNvSpPr/>
          <p:nvPr/>
        </p:nvSpPr>
        <p:spPr>
          <a:xfrm>
            <a:off x="1097280" y="2560320"/>
            <a:ext cx="4572000" cy="402336"/>
          </a:xfrm>
          <a:prstGeom prst="rect">
            <a:avLst/>
          </a:prstGeom>
          <a:noFill/>
          <a:ln/>
        </p:spPr>
        <p:txBody>
          <a:bodyPr wrap="square" lIns="0" tIns="0" rIns="0" bIns="0" rtlCol="0" anchor="ctr"/>
          <a:lstStyle/>
          <a:p>
            <a:pPr marL="0" indent="0">
              <a:buNone/>
            </a:pPr>
            <a:r>
              <a:rPr lang="en-US" sz="1250" b="1" dirty="0">
                <a:solidFill>
                  <a:srgbClr val="16282C"/>
                </a:solidFill>
                <a:latin typeface="Calibri" pitchFamily="34" charset="0"/>
                <a:ea typeface="Calibri" pitchFamily="34" charset="-122"/>
                <a:cs typeface="Calibri" pitchFamily="34" charset="-120"/>
              </a:rPr>
              <a:t>Heart Disease Prediction</a:t>
            </a:r>
            <a:endParaRPr lang="en-US" sz="1250" dirty="0"/>
          </a:p>
        </p:txBody>
      </p:sp>
      <p:sp>
        <p:nvSpPr>
          <p:cNvPr id="15" name="Text 13"/>
          <p:cNvSpPr/>
          <p:nvPr/>
        </p:nvSpPr>
        <p:spPr>
          <a:xfrm>
            <a:off x="548640" y="3200400"/>
            <a:ext cx="365760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Technology</a:t>
            </a:r>
            <a:endParaRPr lang="en-US" sz="1250" dirty="0"/>
          </a:p>
        </p:txBody>
      </p:sp>
      <p:sp>
        <p:nvSpPr>
          <p:cNvPr id="16" name="Shape 14"/>
          <p:cNvSpPr/>
          <p:nvPr/>
        </p:nvSpPr>
        <p:spPr>
          <a:xfrm>
            <a:off x="548640" y="3502152"/>
            <a:ext cx="806501" cy="347472"/>
          </a:xfrm>
          <a:prstGeom prst="roundRect">
            <a:avLst>
              <a:gd name="adj" fmla="val 50000"/>
            </a:avLst>
          </a:prstGeom>
          <a:solidFill>
            <a:srgbClr val="FFFFFF"/>
          </a:solidFill>
          <a:ln w="12700">
            <a:solidFill>
              <a:srgbClr val="028090"/>
            </a:solidFill>
            <a:prstDash val="solid"/>
          </a:ln>
        </p:spPr>
        <p:txBody>
          <a:bodyPr/>
          <a:lstStyle/>
          <a:p>
            <a:endParaRPr lang="en-IN"/>
          </a:p>
        </p:txBody>
      </p:sp>
      <p:sp>
        <p:nvSpPr>
          <p:cNvPr id="17" name="Text 15"/>
          <p:cNvSpPr/>
          <p:nvPr/>
        </p:nvSpPr>
        <p:spPr>
          <a:xfrm>
            <a:off x="548640" y="3502152"/>
            <a:ext cx="806501" cy="347472"/>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Python</a:t>
            </a:r>
            <a:endParaRPr lang="en-US" sz="950" dirty="0"/>
          </a:p>
        </p:txBody>
      </p:sp>
      <p:sp>
        <p:nvSpPr>
          <p:cNvPr id="18" name="Shape 16"/>
          <p:cNvSpPr/>
          <p:nvPr/>
        </p:nvSpPr>
        <p:spPr>
          <a:xfrm>
            <a:off x="1446581" y="3502152"/>
            <a:ext cx="1088136" cy="347472"/>
          </a:xfrm>
          <a:prstGeom prst="roundRect">
            <a:avLst>
              <a:gd name="adj" fmla="val 50000"/>
            </a:avLst>
          </a:prstGeom>
          <a:solidFill>
            <a:srgbClr val="FFFFFF"/>
          </a:solidFill>
          <a:ln w="12700">
            <a:solidFill>
              <a:srgbClr val="028090"/>
            </a:solidFill>
            <a:prstDash val="solid"/>
          </a:ln>
        </p:spPr>
        <p:txBody>
          <a:bodyPr/>
          <a:lstStyle/>
          <a:p>
            <a:endParaRPr lang="en-IN"/>
          </a:p>
        </p:txBody>
      </p:sp>
      <p:sp>
        <p:nvSpPr>
          <p:cNvPr id="19" name="Text 17"/>
          <p:cNvSpPr/>
          <p:nvPr/>
        </p:nvSpPr>
        <p:spPr>
          <a:xfrm>
            <a:off x="1446581" y="3502152"/>
            <a:ext cx="1088136" cy="347472"/>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TensorFlow</a:t>
            </a:r>
            <a:endParaRPr lang="en-US" sz="950" dirty="0"/>
          </a:p>
        </p:txBody>
      </p:sp>
      <p:sp>
        <p:nvSpPr>
          <p:cNvPr id="21" name="Text 19"/>
          <p:cNvSpPr/>
          <p:nvPr/>
        </p:nvSpPr>
        <p:spPr>
          <a:xfrm>
            <a:off x="2626157" y="3502152"/>
            <a:ext cx="1228954" cy="347472"/>
          </a:xfrm>
          <a:prstGeom prst="rect">
            <a:avLst/>
          </a:prstGeom>
          <a:noFill/>
          <a:ln/>
        </p:spPr>
        <p:txBody>
          <a:bodyPr wrap="square" lIns="0" tIns="0" rIns="0" bIns="0" rtlCol="0" anchor="ctr"/>
          <a:lstStyle/>
          <a:p>
            <a:pPr marL="0" indent="0" algn="ctr">
              <a:buNone/>
            </a:pPr>
            <a:endParaRPr lang="en-US" sz="950" dirty="0"/>
          </a:p>
        </p:txBody>
      </p:sp>
      <p:sp>
        <p:nvSpPr>
          <p:cNvPr id="22" name="Shape 20"/>
          <p:cNvSpPr/>
          <p:nvPr/>
        </p:nvSpPr>
        <p:spPr>
          <a:xfrm>
            <a:off x="2626157" y="3511296"/>
            <a:ext cx="736092" cy="347472"/>
          </a:xfrm>
          <a:prstGeom prst="roundRect">
            <a:avLst>
              <a:gd name="adj" fmla="val 50000"/>
            </a:avLst>
          </a:prstGeom>
          <a:solidFill>
            <a:srgbClr val="FFFFFF"/>
          </a:solidFill>
          <a:ln w="12700">
            <a:solidFill>
              <a:srgbClr val="028090"/>
            </a:solidFill>
            <a:prstDash val="solid"/>
          </a:ln>
        </p:spPr>
        <p:txBody>
          <a:bodyPr/>
          <a:lstStyle/>
          <a:p>
            <a:pPr algn="ctr"/>
            <a:r>
              <a:rPr lang="en-IN" sz="1000" dirty="0">
                <a:solidFill>
                  <a:srgbClr val="028090"/>
                </a:solidFill>
                <a:latin typeface="Calibri" pitchFamily="34" charset="0"/>
                <a:ea typeface="Calibri" pitchFamily="34" charset="-122"/>
                <a:cs typeface="Calibri" pitchFamily="34" charset="-120"/>
              </a:rPr>
              <a:t>Flask</a:t>
            </a:r>
            <a:endParaRPr lang="en-US" sz="1000" dirty="0"/>
          </a:p>
        </p:txBody>
      </p:sp>
      <p:sp>
        <p:nvSpPr>
          <p:cNvPr id="23" name="Text 21"/>
          <p:cNvSpPr/>
          <p:nvPr/>
        </p:nvSpPr>
        <p:spPr>
          <a:xfrm>
            <a:off x="1932504" y="3438144"/>
            <a:ext cx="1833425" cy="676656"/>
          </a:xfrm>
          <a:prstGeom prst="rect">
            <a:avLst/>
          </a:prstGeom>
          <a:noFill/>
          <a:ln/>
        </p:spPr>
        <p:txBody>
          <a:bodyPr wrap="square" lIns="0" tIns="0" rIns="0" bIns="0" rtlCol="0" anchor="ctr"/>
          <a:lstStyle/>
          <a:p>
            <a:pPr marL="0" indent="0" algn="ctr">
              <a:buNone/>
            </a:pPr>
            <a:endParaRPr lang="en-US" sz="950" dirty="0"/>
          </a:p>
        </p:txBody>
      </p:sp>
      <p:sp>
        <p:nvSpPr>
          <p:cNvPr id="24" name="Shape 22"/>
          <p:cNvSpPr/>
          <p:nvPr/>
        </p:nvSpPr>
        <p:spPr>
          <a:xfrm>
            <a:off x="3433087" y="3511296"/>
            <a:ext cx="665683" cy="347472"/>
          </a:xfrm>
          <a:prstGeom prst="roundRect">
            <a:avLst>
              <a:gd name="adj" fmla="val 50000"/>
            </a:avLst>
          </a:prstGeom>
          <a:solidFill>
            <a:srgbClr val="FFFFFF"/>
          </a:solidFill>
          <a:ln w="12700">
            <a:solidFill>
              <a:srgbClr val="028090"/>
            </a:solidFill>
            <a:prstDash val="solid"/>
          </a:ln>
        </p:spPr>
        <p:txBody>
          <a:bodyPr/>
          <a:lstStyle/>
          <a:p>
            <a:endParaRPr lang="en-IN"/>
          </a:p>
        </p:txBody>
      </p:sp>
      <p:sp>
        <p:nvSpPr>
          <p:cNvPr id="25" name="Text 23"/>
          <p:cNvSpPr/>
          <p:nvPr/>
        </p:nvSpPr>
        <p:spPr>
          <a:xfrm>
            <a:off x="3433088" y="3502152"/>
            <a:ext cx="665682" cy="347472"/>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SHAP</a:t>
            </a:r>
            <a:endParaRPr lang="en-US" sz="950" dirty="0"/>
          </a:p>
        </p:txBody>
      </p:sp>
      <p:sp>
        <p:nvSpPr>
          <p:cNvPr id="26" name="Text 24"/>
          <p:cNvSpPr/>
          <p:nvPr/>
        </p:nvSpPr>
        <p:spPr>
          <a:xfrm>
            <a:off x="548640" y="4114800"/>
            <a:ext cx="457200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Model Management Module</a:t>
            </a:r>
            <a:endParaRPr lang="en-US" sz="1250" dirty="0"/>
          </a:p>
        </p:txBody>
      </p:sp>
      <p:sp>
        <p:nvSpPr>
          <p:cNvPr id="27" name="Text 25"/>
          <p:cNvSpPr/>
          <p:nvPr/>
        </p:nvSpPr>
        <p:spPr>
          <a:xfrm>
            <a:off x="548640" y="4416552"/>
            <a:ext cx="5212080" cy="1371600"/>
          </a:xfrm>
          <a:prstGeom prst="rect">
            <a:avLst/>
          </a:prstGeom>
          <a:noFill/>
          <a:ln/>
        </p:spPr>
        <p:txBody>
          <a:bodyPr wrap="square" lIns="0" tIns="0" rIns="0" bIns="0" rtlCol="0" anchor="t"/>
          <a:lstStyle/>
          <a:p>
            <a:pPr marL="228600" indent="-228600">
              <a:spcAft>
                <a:spcPts val="500"/>
              </a:spcAft>
              <a:buSzPct val="100000"/>
              <a:buChar char="▪"/>
            </a:pPr>
            <a:r>
              <a:rPr lang="en-US" sz="1150" dirty="0">
                <a:solidFill>
                  <a:srgbClr val="16282C"/>
                </a:solidFill>
                <a:latin typeface="Calibri" pitchFamily="34" charset="0"/>
                <a:ea typeface="Calibri" pitchFamily="34" charset="-122"/>
                <a:cs typeface="Calibri" pitchFamily="34" charset="-120"/>
              </a:rPr>
              <a:t>View models</a:t>
            </a:r>
            <a:endParaRPr lang="en-US" sz="1150" dirty="0"/>
          </a:p>
          <a:p>
            <a:pPr marL="228600" indent="-228600">
              <a:spcAft>
                <a:spcPts val="500"/>
              </a:spcAft>
              <a:buSzPct val="100000"/>
              <a:buChar char="▪"/>
            </a:pPr>
            <a:r>
              <a:rPr lang="en-US" sz="1150" dirty="0">
                <a:solidFill>
                  <a:srgbClr val="16282C"/>
                </a:solidFill>
                <a:latin typeface="Calibri" pitchFamily="34" charset="0"/>
                <a:ea typeface="Calibri" pitchFamily="34" charset="-122"/>
                <a:cs typeface="Calibri" pitchFamily="34" charset="-120"/>
              </a:rPr>
              <a:t>Add / update models</a:t>
            </a:r>
            <a:endParaRPr lang="en-US" sz="1150" dirty="0"/>
          </a:p>
          <a:p>
            <a:pPr marL="228600" indent="-228600">
              <a:spcAft>
                <a:spcPts val="500"/>
              </a:spcAft>
              <a:buSzPct val="100000"/>
              <a:buChar char="▪"/>
            </a:pPr>
            <a:r>
              <a:rPr lang="en-US" sz="1150" dirty="0">
                <a:solidFill>
                  <a:srgbClr val="16282C"/>
                </a:solidFill>
                <a:latin typeface="Calibri" pitchFamily="34" charset="0"/>
                <a:ea typeface="Calibri" pitchFamily="34" charset="-122"/>
                <a:cs typeface="Calibri" pitchFamily="34" charset="-120"/>
              </a:rPr>
              <a:t>Delete models</a:t>
            </a:r>
            <a:endParaRPr lang="en-US" sz="1150" dirty="0"/>
          </a:p>
          <a:p>
            <a:pPr marL="228600" indent="-228600">
              <a:spcAft>
                <a:spcPts val="500"/>
              </a:spcAft>
              <a:buSzPct val="100000"/>
              <a:buChar char="▪"/>
            </a:pPr>
            <a:r>
              <a:rPr lang="en-US" sz="1150" dirty="0">
                <a:solidFill>
                  <a:srgbClr val="16282C"/>
                </a:solidFill>
                <a:latin typeface="Calibri" pitchFamily="34" charset="0"/>
                <a:ea typeface="Calibri" pitchFamily="34" charset="-122"/>
                <a:cs typeface="Calibri" pitchFamily="34" charset="-120"/>
              </a:rPr>
              <a:t>Activate / deactivate models</a:t>
            </a:r>
            <a:endParaRPr lang="en-US" sz="1150" dirty="0"/>
          </a:p>
        </p:txBody>
      </p:sp>
      <p:sp>
        <p:nvSpPr>
          <p:cNvPr id="28" name="Shape 26"/>
          <p:cNvSpPr/>
          <p:nvPr/>
        </p:nvSpPr>
        <p:spPr>
          <a:xfrm>
            <a:off x="548640" y="5897880"/>
            <a:ext cx="5212080" cy="594360"/>
          </a:xfrm>
          <a:prstGeom prst="roundRect">
            <a:avLst>
              <a:gd name="adj" fmla="val 12308"/>
            </a:avLst>
          </a:prstGeom>
          <a:solidFill>
            <a:srgbClr val="01353D"/>
          </a:solidFill>
          <a:ln/>
        </p:spPr>
        <p:txBody>
          <a:bodyPr/>
          <a:lstStyle/>
          <a:p>
            <a:endParaRPr lang="en-IN"/>
          </a:p>
        </p:txBody>
      </p:sp>
      <p:sp>
        <p:nvSpPr>
          <p:cNvPr id="29" name="Text 27"/>
          <p:cNvSpPr/>
          <p:nvPr/>
        </p:nvSpPr>
        <p:spPr>
          <a:xfrm>
            <a:off x="731520" y="5897880"/>
            <a:ext cx="4846320" cy="59436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Models exposed via </a:t>
            </a:r>
            <a:r>
              <a:rPr lang="en-US" sz="1050" b="1" dirty="0">
                <a:solidFill>
                  <a:srgbClr val="02C39A"/>
                </a:solidFill>
                <a:latin typeface="Calibri" pitchFamily="34" charset="0"/>
                <a:ea typeface="Calibri" pitchFamily="34" charset="-122"/>
                <a:cs typeface="Calibri" pitchFamily="34" charset="-120"/>
              </a:rPr>
              <a:t>Flask REST APIs</a:t>
            </a:r>
            <a:r>
              <a:rPr lang="en-US" sz="1050" dirty="0">
                <a:solidFill>
                  <a:srgbClr val="FFFFFF"/>
                </a:solidFill>
                <a:latin typeface="Calibri" pitchFamily="34" charset="0"/>
                <a:ea typeface="Calibri" pitchFamily="34" charset="-122"/>
                <a:cs typeface="Calibri" pitchFamily="34" charset="-120"/>
              </a:rPr>
              <a:t>, integrated with the Spring Boot Prediction Service.</a:t>
            </a:r>
            <a:endParaRPr lang="en-US" sz="1050" dirty="0"/>
          </a:p>
        </p:txBody>
      </p:sp>
      <p:sp>
        <p:nvSpPr>
          <p:cNvPr id="31" name="Text 29"/>
          <p:cNvSpPr/>
          <p:nvPr/>
        </p:nvSpPr>
        <p:spPr>
          <a:xfrm>
            <a:off x="6492240" y="1847088"/>
            <a:ext cx="4937760" cy="256032"/>
          </a:xfrm>
          <a:prstGeom prst="rect">
            <a:avLst/>
          </a:prstGeom>
          <a:noFill/>
          <a:ln/>
        </p:spPr>
        <p:txBody>
          <a:bodyPr wrap="square" rtlCol="0" anchor="ctr"/>
          <a:lstStyle/>
          <a:p>
            <a:pPr marL="0" indent="0">
              <a:buNone/>
            </a:pPr>
            <a:endParaRPr lang="en-US" sz="1200" dirty="0"/>
          </a:p>
        </p:txBody>
      </p:sp>
      <p:sp>
        <p:nvSpPr>
          <p:cNvPr id="33" name="Text 31"/>
          <p:cNvSpPr/>
          <p:nvPr/>
        </p:nvSpPr>
        <p:spPr>
          <a:xfrm>
            <a:off x="6629400" y="2148840"/>
            <a:ext cx="4663440"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Patient Input</a:t>
            </a:r>
            <a:endParaRPr lang="en-US" sz="1000" dirty="0"/>
          </a:p>
        </p:txBody>
      </p:sp>
      <p:sp>
        <p:nvSpPr>
          <p:cNvPr id="36" name="Text 34"/>
          <p:cNvSpPr/>
          <p:nvPr/>
        </p:nvSpPr>
        <p:spPr>
          <a:xfrm>
            <a:off x="6629400" y="2441448"/>
            <a:ext cx="4663440"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Model</a:t>
            </a:r>
            <a:endParaRPr lang="en-US" sz="1000" dirty="0"/>
          </a:p>
        </p:txBody>
      </p:sp>
      <p:sp>
        <p:nvSpPr>
          <p:cNvPr id="39" name="Text 37"/>
          <p:cNvSpPr/>
          <p:nvPr/>
        </p:nvSpPr>
        <p:spPr>
          <a:xfrm>
            <a:off x="6629400" y="2734056"/>
            <a:ext cx="4663440"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Prediction</a:t>
            </a:r>
            <a:endParaRPr lang="en-US" sz="1000" dirty="0"/>
          </a:p>
        </p:txBody>
      </p:sp>
      <p:sp>
        <p:nvSpPr>
          <p:cNvPr id="42" name="Text 40"/>
          <p:cNvSpPr/>
          <p:nvPr/>
        </p:nvSpPr>
        <p:spPr>
          <a:xfrm>
            <a:off x="6629400" y="3026664"/>
            <a:ext cx="4663440"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Probability</a:t>
            </a:r>
            <a:endParaRPr lang="en-US" sz="1000" dirty="0"/>
          </a:p>
        </p:txBody>
      </p:sp>
      <p:sp>
        <p:nvSpPr>
          <p:cNvPr id="49" name="Text 47"/>
          <p:cNvSpPr/>
          <p:nvPr/>
        </p:nvSpPr>
        <p:spPr>
          <a:xfrm>
            <a:off x="6263640" y="4160520"/>
            <a:ext cx="5394960" cy="256032"/>
          </a:xfrm>
          <a:prstGeom prst="rect">
            <a:avLst/>
          </a:prstGeom>
          <a:noFill/>
          <a:ln/>
        </p:spPr>
        <p:txBody>
          <a:bodyPr wrap="square" rtlCol="0" anchor="ctr"/>
          <a:lstStyle/>
          <a:p>
            <a:pPr marL="0" indent="0">
              <a:buNone/>
            </a:pPr>
            <a:endParaRPr lang="en-US" sz="1200" dirty="0"/>
          </a:p>
        </p:txBody>
      </p:sp>
      <p:sp>
        <p:nvSpPr>
          <p:cNvPr id="51" name="Text 49"/>
          <p:cNvSpPr/>
          <p:nvPr/>
        </p:nvSpPr>
        <p:spPr>
          <a:xfrm>
            <a:off x="7132320" y="4462272"/>
            <a:ext cx="365760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React</a:t>
            </a:r>
            <a:endParaRPr lang="en-US" sz="1000" dirty="0"/>
          </a:p>
        </p:txBody>
      </p:sp>
      <p:sp>
        <p:nvSpPr>
          <p:cNvPr id="54" name="Text 52"/>
          <p:cNvSpPr/>
          <p:nvPr/>
        </p:nvSpPr>
        <p:spPr>
          <a:xfrm>
            <a:off x="7132320" y="4800600"/>
            <a:ext cx="365760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Prediction Service</a:t>
            </a:r>
            <a:endParaRPr lang="en-US" sz="1000" dirty="0"/>
          </a:p>
        </p:txBody>
      </p:sp>
      <p:sp>
        <p:nvSpPr>
          <p:cNvPr id="57" name="Text 55"/>
          <p:cNvSpPr/>
          <p:nvPr/>
        </p:nvSpPr>
        <p:spPr>
          <a:xfrm>
            <a:off x="7132320" y="5138928"/>
            <a:ext cx="365760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Flask ML API</a:t>
            </a:r>
            <a:endParaRPr lang="en-US" sz="1000" dirty="0"/>
          </a:p>
        </p:txBody>
      </p:sp>
      <p:sp>
        <p:nvSpPr>
          <p:cNvPr id="60" name="Text 58"/>
          <p:cNvSpPr/>
          <p:nvPr/>
        </p:nvSpPr>
        <p:spPr>
          <a:xfrm>
            <a:off x="7132320" y="5477256"/>
            <a:ext cx="365760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Model</a:t>
            </a:r>
            <a:endParaRPr lang="en-US" sz="1000" dirty="0"/>
          </a:p>
        </p:txBody>
      </p:sp>
      <p:sp>
        <p:nvSpPr>
          <p:cNvPr id="67" name="Text 6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05</a:t>
            </a:r>
            <a:endParaRPr lang="en-US" sz="1000" dirty="0"/>
          </a:p>
        </p:txBody>
      </p:sp>
      <p:pic>
        <p:nvPicPr>
          <p:cNvPr id="68" name="Picture 67">
            <a:extLst>
              <a:ext uri="{FF2B5EF4-FFF2-40B4-BE49-F238E27FC236}">
                <a16:creationId xmlns:a16="http://schemas.microsoft.com/office/drawing/2014/main" id="{9E9BFE82-6BCC-0652-B90B-D3334000C0E7}"/>
              </a:ext>
            </a:extLst>
          </p:cNvPr>
          <p:cNvPicPr>
            <a:picLocks noChangeAspect="1"/>
          </p:cNvPicPr>
          <p:nvPr/>
        </p:nvPicPr>
        <p:blipFill>
          <a:blip r:embed="rId3"/>
          <a:stretch>
            <a:fillRect/>
          </a:stretch>
        </p:blipFill>
        <p:spPr>
          <a:xfrm>
            <a:off x="6217920" y="323249"/>
            <a:ext cx="5974080" cy="60775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MILESTONE 2 · CONTINUED</a:t>
            </a:r>
            <a:endParaRPr lang="en-US" sz="1200" dirty="0"/>
          </a:p>
        </p:txBody>
      </p:sp>
      <p:sp>
        <p:nvSpPr>
          <p:cNvPr id="3" name="Text 1"/>
          <p:cNvSpPr/>
          <p:nvPr/>
        </p:nvSpPr>
        <p:spPr>
          <a:xfrm>
            <a:off x="548640" y="658368"/>
            <a:ext cx="10607040" cy="685800"/>
          </a:xfrm>
          <a:prstGeom prst="rect">
            <a:avLst/>
          </a:prstGeom>
          <a:noFill/>
          <a:ln/>
        </p:spPr>
        <p:txBody>
          <a:bodyPr wrap="square" rtlCol="0" anchor="ctr"/>
          <a:lstStyle/>
          <a:p>
            <a:pPr marL="0" indent="0" algn="l">
              <a:buNone/>
            </a:pPr>
            <a:r>
              <a:rPr lang="en-US" sz="3200" b="1" dirty="0">
                <a:solidFill>
                  <a:srgbClr val="16282C"/>
                </a:solidFill>
                <a:latin typeface="Cambria" pitchFamily="34" charset="0"/>
                <a:ea typeface="Cambria" pitchFamily="34" charset="-122"/>
                <a:cs typeface="Cambria" pitchFamily="34" charset="-120"/>
              </a:rPr>
              <a:t>Explainable AI using SHAP</a:t>
            </a:r>
            <a:endParaRPr lang="en-US" sz="3200" dirty="0"/>
          </a:p>
        </p:txBody>
      </p:sp>
      <p:sp>
        <p:nvSpPr>
          <p:cNvPr id="4" name="Text 2"/>
          <p:cNvSpPr/>
          <p:nvPr/>
        </p:nvSpPr>
        <p:spPr>
          <a:xfrm>
            <a:off x="548640" y="1234440"/>
            <a:ext cx="8686800" cy="365760"/>
          </a:xfrm>
          <a:prstGeom prst="rect">
            <a:avLst/>
          </a:prstGeom>
          <a:noFill/>
          <a:ln/>
        </p:spPr>
        <p:txBody>
          <a:bodyPr wrap="square" rtlCol="0" anchor="ctr"/>
          <a:lstStyle/>
          <a:p>
            <a:pPr marL="0" indent="0">
              <a:buNone/>
            </a:pPr>
            <a:r>
              <a:rPr lang="en-US" sz="1400" dirty="0">
                <a:solidFill>
                  <a:srgbClr val="5C7378"/>
                </a:solidFill>
                <a:latin typeface="Calibri" pitchFamily="34" charset="0"/>
                <a:ea typeface="Calibri" pitchFamily="34" charset="-122"/>
                <a:cs typeface="Calibri" pitchFamily="34" charset="-120"/>
              </a:rPr>
              <a:t>Why explainability matters in healthcare AI</a:t>
            </a:r>
            <a:endParaRPr lang="en-US" sz="1400" dirty="0"/>
          </a:p>
        </p:txBody>
      </p:sp>
      <p:sp>
        <p:nvSpPr>
          <p:cNvPr id="5" name="Text 3"/>
          <p:cNvSpPr/>
          <p:nvPr/>
        </p:nvSpPr>
        <p:spPr>
          <a:xfrm>
            <a:off x="548640" y="1691640"/>
            <a:ext cx="10881360" cy="640080"/>
          </a:xfrm>
          <a:prstGeom prst="rect">
            <a:avLst/>
          </a:prstGeom>
          <a:noFill/>
          <a:ln/>
        </p:spPr>
        <p:txBody>
          <a:bodyPr wrap="square" lIns="0" tIns="0" rIns="0" bIns="0" rtlCol="0" anchor="t"/>
          <a:lstStyle/>
          <a:p>
            <a:pPr marL="0" indent="0">
              <a:buNone/>
            </a:pPr>
            <a:r>
              <a:rPr lang="en-US" sz="1300" b="1" dirty="0">
                <a:solidFill>
                  <a:srgbClr val="16282C"/>
                </a:solidFill>
                <a:latin typeface="Calibri" pitchFamily="34" charset="0"/>
                <a:ea typeface="Calibri" pitchFamily="34" charset="-122"/>
                <a:cs typeface="Calibri" pitchFamily="34" charset="-120"/>
              </a:rPr>
              <a:t>Clinicians cannot act on a black-box score. </a:t>
            </a:r>
            <a:r>
              <a:rPr lang="en-US" sz="1300" dirty="0">
                <a:solidFill>
                  <a:srgbClr val="16282C"/>
                </a:solidFill>
                <a:latin typeface="Calibri" pitchFamily="34" charset="0"/>
                <a:ea typeface="Calibri" pitchFamily="34" charset="-122"/>
                <a:cs typeface="Calibri" pitchFamily="34" charset="-120"/>
              </a:rPr>
              <a:t>SHAP (SHapley Additive exPlanations) reveals which patient features contributed to a prediction, giving doctors the transparency they need to trust and validate AI-driven risk assessments.</a:t>
            </a:r>
            <a:endParaRPr lang="en-US" sz="1300" dirty="0"/>
          </a:p>
        </p:txBody>
      </p:sp>
      <p:sp>
        <p:nvSpPr>
          <p:cNvPr id="6" name="Shape 4"/>
          <p:cNvSpPr/>
          <p:nvPr/>
        </p:nvSpPr>
        <p:spPr>
          <a:xfrm>
            <a:off x="548640" y="2514600"/>
            <a:ext cx="2580894" cy="685800"/>
          </a:xfrm>
          <a:prstGeom prst="roundRect">
            <a:avLst>
              <a:gd name="adj" fmla="val 9333"/>
            </a:avLst>
          </a:prstGeom>
          <a:solidFill>
            <a:srgbClr val="028090"/>
          </a:solidFill>
          <a:ln/>
        </p:spPr>
        <p:txBody>
          <a:bodyPr/>
          <a:lstStyle/>
          <a:p>
            <a:endParaRPr lang="en-IN"/>
          </a:p>
        </p:txBody>
      </p:sp>
      <p:sp>
        <p:nvSpPr>
          <p:cNvPr id="7" name="Text 5"/>
          <p:cNvSpPr/>
          <p:nvPr/>
        </p:nvSpPr>
        <p:spPr>
          <a:xfrm>
            <a:off x="603504" y="2514600"/>
            <a:ext cx="2471166" cy="6858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Prediction</a:t>
            </a:r>
            <a:endParaRPr lang="en-US" sz="1250" dirty="0"/>
          </a:p>
        </p:txBody>
      </p:sp>
      <p:sp>
        <p:nvSpPr>
          <p:cNvPr id="8" name="Shape 6"/>
          <p:cNvSpPr/>
          <p:nvPr/>
        </p:nvSpPr>
        <p:spPr>
          <a:xfrm>
            <a:off x="3129534" y="2857500"/>
            <a:ext cx="256032" cy="0"/>
          </a:xfrm>
          <a:prstGeom prst="line">
            <a:avLst/>
          </a:prstGeom>
          <a:noFill/>
          <a:ln w="22225">
            <a:solidFill>
              <a:srgbClr val="5C7378"/>
            </a:solidFill>
            <a:prstDash val="solid"/>
            <a:tailEnd type="triangle"/>
          </a:ln>
        </p:spPr>
        <p:txBody>
          <a:bodyPr/>
          <a:lstStyle/>
          <a:p>
            <a:endParaRPr lang="en-IN"/>
          </a:p>
        </p:txBody>
      </p:sp>
      <p:sp>
        <p:nvSpPr>
          <p:cNvPr id="9" name="Shape 7"/>
          <p:cNvSpPr/>
          <p:nvPr/>
        </p:nvSpPr>
        <p:spPr>
          <a:xfrm>
            <a:off x="3385566" y="2514600"/>
            <a:ext cx="2580894" cy="685800"/>
          </a:xfrm>
          <a:prstGeom prst="roundRect">
            <a:avLst>
              <a:gd name="adj" fmla="val 9333"/>
            </a:avLst>
          </a:prstGeom>
          <a:solidFill>
            <a:srgbClr val="028090"/>
          </a:solidFill>
          <a:ln/>
        </p:spPr>
        <p:txBody>
          <a:bodyPr/>
          <a:lstStyle/>
          <a:p>
            <a:endParaRPr lang="en-IN"/>
          </a:p>
        </p:txBody>
      </p:sp>
      <p:sp>
        <p:nvSpPr>
          <p:cNvPr id="10" name="Text 8"/>
          <p:cNvSpPr/>
          <p:nvPr/>
        </p:nvSpPr>
        <p:spPr>
          <a:xfrm>
            <a:off x="3440430" y="2514600"/>
            <a:ext cx="2471166" cy="6858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SHAP</a:t>
            </a:r>
            <a:endParaRPr lang="en-US" sz="1250" dirty="0"/>
          </a:p>
        </p:txBody>
      </p:sp>
      <p:sp>
        <p:nvSpPr>
          <p:cNvPr id="11" name="Shape 9"/>
          <p:cNvSpPr/>
          <p:nvPr/>
        </p:nvSpPr>
        <p:spPr>
          <a:xfrm>
            <a:off x="5966460" y="2857500"/>
            <a:ext cx="256032" cy="0"/>
          </a:xfrm>
          <a:prstGeom prst="line">
            <a:avLst/>
          </a:prstGeom>
          <a:noFill/>
          <a:ln w="22225">
            <a:solidFill>
              <a:srgbClr val="5C7378"/>
            </a:solidFill>
            <a:prstDash val="solid"/>
            <a:tailEnd type="triangle"/>
          </a:ln>
        </p:spPr>
        <p:txBody>
          <a:bodyPr/>
          <a:lstStyle/>
          <a:p>
            <a:endParaRPr lang="en-IN"/>
          </a:p>
        </p:txBody>
      </p:sp>
      <p:sp>
        <p:nvSpPr>
          <p:cNvPr id="12" name="Shape 10"/>
          <p:cNvSpPr/>
          <p:nvPr/>
        </p:nvSpPr>
        <p:spPr>
          <a:xfrm>
            <a:off x="6222492" y="2514600"/>
            <a:ext cx="2580894" cy="685800"/>
          </a:xfrm>
          <a:prstGeom prst="roundRect">
            <a:avLst>
              <a:gd name="adj" fmla="val 9333"/>
            </a:avLst>
          </a:prstGeom>
          <a:solidFill>
            <a:srgbClr val="028090"/>
          </a:solidFill>
          <a:ln/>
        </p:spPr>
        <p:txBody>
          <a:bodyPr/>
          <a:lstStyle/>
          <a:p>
            <a:endParaRPr lang="en-IN"/>
          </a:p>
        </p:txBody>
      </p:sp>
      <p:sp>
        <p:nvSpPr>
          <p:cNvPr id="13" name="Text 11"/>
          <p:cNvSpPr/>
          <p:nvPr/>
        </p:nvSpPr>
        <p:spPr>
          <a:xfrm>
            <a:off x="6277356" y="2514600"/>
            <a:ext cx="2471166" cy="6858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Important Features</a:t>
            </a:r>
            <a:endParaRPr lang="en-US" sz="1250" dirty="0"/>
          </a:p>
        </p:txBody>
      </p:sp>
      <p:sp>
        <p:nvSpPr>
          <p:cNvPr id="14" name="Shape 12"/>
          <p:cNvSpPr/>
          <p:nvPr/>
        </p:nvSpPr>
        <p:spPr>
          <a:xfrm>
            <a:off x="8803386" y="2857500"/>
            <a:ext cx="256032" cy="0"/>
          </a:xfrm>
          <a:prstGeom prst="line">
            <a:avLst/>
          </a:prstGeom>
          <a:noFill/>
          <a:ln w="22225">
            <a:solidFill>
              <a:srgbClr val="5C7378"/>
            </a:solidFill>
            <a:prstDash val="solid"/>
            <a:tailEnd type="triangle"/>
          </a:ln>
        </p:spPr>
        <p:txBody>
          <a:bodyPr/>
          <a:lstStyle/>
          <a:p>
            <a:endParaRPr lang="en-IN"/>
          </a:p>
        </p:txBody>
      </p:sp>
      <p:sp>
        <p:nvSpPr>
          <p:cNvPr id="15" name="Shape 13"/>
          <p:cNvSpPr/>
          <p:nvPr/>
        </p:nvSpPr>
        <p:spPr>
          <a:xfrm>
            <a:off x="9059418" y="2514600"/>
            <a:ext cx="2580894" cy="685800"/>
          </a:xfrm>
          <a:prstGeom prst="roundRect">
            <a:avLst>
              <a:gd name="adj" fmla="val 9333"/>
            </a:avLst>
          </a:prstGeom>
          <a:solidFill>
            <a:srgbClr val="02C39A"/>
          </a:solidFill>
          <a:ln/>
        </p:spPr>
        <p:txBody>
          <a:bodyPr/>
          <a:lstStyle/>
          <a:p>
            <a:endParaRPr lang="en-IN"/>
          </a:p>
        </p:txBody>
      </p:sp>
      <p:sp>
        <p:nvSpPr>
          <p:cNvPr id="16" name="Text 14"/>
          <p:cNvSpPr/>
          <p:nvPr/>
        </p:nvSpPr>
        <p:spPr>
          <a:xfrm>
            <a:off x="9114282" y="2514600"/>
            <a:ext cx="2471166" cy="6858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Doctor Understanding</a:t>
            </a:r>
            <a:endParaRPr lang="en-US" sz="1250" dirty="0"/>
          </a:p>
        </p:txBody>
      </p:sp>
      <p:sp>
        <p:nvSpPr>
          <p:cNvPr id="17" name="Shape 15"/>
          <p:cNvSpPr/>
          <p:nvPr/>
        </p:nvSpPr>
        <p:spPr>
          <a:xfrm>
            <a:off x="548640" y="3520440"/>
            <a:ext cx="6492240" cy="2788920"/>
          </a:xfrm>
          <a:prstGeom prst="roundRect">
            <a:avLst>
              <a:gd name="adj" fmla="val 3279"/>
            </a:avLst>
          </a:prstGeom>
          <a:solidFill>
            <a:srgbClr val="EFF7F6"/>
          </a:solidFill>
          <a:ln/>
        </p:spPr>
        <p:txBody>
          <a:bodyPr/>
          <a:lstStyle/>
          <a:p>
            <a:endParaRPr lang="en-IN"/>
          </a:p>
        </p:txBody>
      </p:sp>
      <p:sp>
        <p:nvSpPr>
          <p:cNvPr id="18" name="Text 16"/>
          <p:cNvSpPr/>
          <p:nvPr/>
        </p:nvSpPr>
        <p:spPr>
          <a:xfrm>
            <a:off x="822960" y="3657600"/>
            <a:ext cx="6035040" cy="292608"/>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Example: Contributing Clinical Features</a:t>
            </a:r>
            <a:endParaRPr lang="en-US" sz="1250" dirty="0"/>
          </a:p>
        </p:txBody>
      </p:sp>
      <p:sp>
        <p:nvSpPr>
          <p:cNvPr id="19" name="Text 17"/>
          <p:cNvSpPr/>
          <p:nvPr/>
        </p:nvSpPr>
        <p:spPr>
          <a:xfrm>
            <a:off x="822960" y="4114800"/>
            <a:ext cx="1463040" cy="310896"/>
          </a:xfrm>
          <a:prstGeom prst="rect">
            <a:avLst/>
          </a:prstGeom>
          <a:noFill/>
          <a:ln/>
        </p:spPr>
        <p:txBody>
          <a:bodyPr wrap="square" lIns="0" tIns="0" rIns="0" bIns="0" rtlCol="0" anchor="ctr"/>
          <a:lstStyle/>
          <a:p>
            <a:pPr marL="0" indent="0" algn="l">
              <a:buNone/>
            </a:pPr>
            <a:r>
              <a:rPr lang="en-US" sz="1100" dirty="0">
                <a:solidFill>
                  <a:srgbClr val="16282C"/>
                </a:solidFill>
                <a:latin typeface="Calibri" pitchFamily="34" charset="0"/>
                <a:ea typeface="Calibri" pitchFamily="34" charset="-122"/>
                <a:cs typeface="Calibri" pitchFamily="34" charset="-120"/>
              </a:rPr>
              <a:t>Glucose</a:t>
            </a:r>
            <a:endParaRPr lang="en-US" sz="1100" dirty="0"/>
          </a:p>
        </p:txBody>
      </p:sp>
      <p:sp>
        <p:nvSpPr>
          <p:cNvPr id="20" name="Shape 18"/>
          <p:cNvSpPr/>
          <p:nvPr/>
        </p:nvSpPr>
        <p:spPr>
          <a:xfrm>
            <a:off x="2377440" y="4142232"/>
            <a:ext cx="4297680" cy="256032"/>
          </a:xfrm>
          <a:prstGeom prst="roundRect">
            <a:avLst>
              <a:gd name="adj" fmla="val 14286"/>
            </a:avLst>
          </a:prstGeom>
          <a:solidFill>
            <a:srgbClr val="FFFFFF"/>
          </a:solidFill>
          <a:ln w="12700">
            <a:solidFill>
              <a:srgbClr val="D8E7E5"/>
            </a:solidFill>
            <a:prstDash val="solid"/>
          </a:ln>
        </p:spPr>
        <p:txBody>
          <a:bodyPr/>
          <a:lstStyle/>
          <a:p>
            <a:endParaRPr lang="en-IN"/>
          </a:p>
        </p:txBody>
      </p:sp>
      <p:sp>
        <p:nvSpPr>
          <p:cNvPr id="21" name="Shape 19"/>
          <p:cNvSpPr/>
          <p:nvPr/>
        </p:nvSpPr>
        <p:spPr>
          <a:xfrm>
            <a:off x="2377440" y="4142232"/>
            <a:ext cx="3696005" cy="256032"/>
          </a:xfrm>
          <a:prstGeom prst="roundRect">
            <a:avLst>
              <a:gd name="adj" fmla="val 14286"/>
            </a:avLst>
          </a:prstGeom>
          <a:solidFill>
            <a:srgbClr val="028090"/>
          </a:solidFill>
          <a:ln/>
        </p:spPr>
        <p:txBody>
          <a:bodyPr/>
          <a:lstStyle/>
          <a:p>
            <a:endParaRPr lang="en-IN"/>
          </a:p>
        </p:txBody>
      </p:sp>
      <p:sp>
        <p:nvSpPr>
          <p:cNvPr id="22" name="Text 20"/>
          <p:cNvSpPr/>
          <p:nvPr/>
        </p:nvSpPr>
        <p:spPr>
          <a:xfrm>
            <a:off x="822960" y="4544568"/>
            <a:ext cx="1463040" cy="310896"/>
          </a:xfrm>
          <a:prstGeom prst="rect">
            <a:avLst/>
          </a:prstGeom>
          <a:noFill/>
          <a:ln/>
        </p:spPr>
        <p:txBody>
          <a:bodyPr wrap="square" lIns="0" tIns="0" rIns="0" bIns="0" rtlCol="0" anchor="ctr"/>
          <a:lstStyle/>
          <a:p>
            <a:pPr marL="0" indent="0" algn="l">
              <a:buNone/>
            </a:pPr>
            <a:r>
              <a:rPr lang="en-US" sz="1100" dirty="0">
                <a:solidFill>
                  <a:srgbClr val="16282C"/>
                </a:solidFill>
                <a:latin typeface="Calibri" pitchFamily="34" charset="0"/>
                <a:ea typeface="Calibri" pitchFamily="34" charset="-122"/>
                <a:cs typeface="Calibri" pitchFamily="34" charset="-120"/>
              </a:rPr>
              <a:t>Blood Pressure</a:t>
            </a:r>
            <a:endParaRPr lang="en-US" sz="1100" dirty="0"/>
          </a:p>
        </p:txBody>
      </p:sp>
      <p:sp>
        <p:nvSpPr>
          <p:cNvPr id="23" name="Shape 21"/>
          <p:cNvSpPr/>
          <p:nvPr/>
        </p:nvSpPr>
        <p:spPr>
          <a:xfrm>
            <a:off x="2377440" y="4572000"/>
            <a:ext cx="4297680" cy="256032"/>
          </a:xfrm>
          <a:prstGeom prst="roundRect">
            <a:avLst>
              <a:gd name="adj" fmla="val 14286"/>
            </a:avLst>
          </a:prstGeom>
          <a:solidFill>
            <a:srgbClr val="FFFFFF"/>
          </a:solidFill>
          <a:ln w="12700">
            <a:solidFill>
              <a:srgbClr val="D8E7E5"/>
            </a:solidFill>
            <a:prstDash val="solid"/>
          </a:ln>
        </p:spPr>
        <p:txBody>
          <a:bodyPr/>
          <a:lstStyle/>
          <a:p>
            <a:endParaRPr lang="en-IN"/>
          </a:p>
        </p:txBody>
      </p:sp>
      <p:sp>
        <p:nvSpPr>
          <p:cNvPr id="24" name="Shape 22"/>
          <p:cNvSpPr/>
          <p:nvPr/>
        </p:nvSpPr>
        <p:spPr>
          <a:xfrm>
            <a:off x="2377440" y="4572000"/>
            <a:ext cx="2922422" cy="256032"/>
          </a:xfrm>
          <a:prstGeom prst="roundRect">
            <a:avLst>
              <a:gd name="adj" fmla="val 14286"/>
            </a:avLst>
          </a:prstGeom>
          <a:solidFill>
            <a:srgbClr val="00A896"/>
          </a:solidFill>
          <a:ln/>
        </p:spPr>
        <p:txBody>
          <a:bodyPr/>
          <a:lstStyle/>
          <a:p>
            <a:endParaRPr lang="en-IN"/>
          </a:p>
        </p:txBody>
      </p:sp>
      <p:sp>
        <p:nvSpPr>
          <p:cNvPr id="25" name="Text 23"/>
          <p:cNvSpPr/>
          <p:nvPr/>
        </p:nvSpPr>
        <p:spPr>
          <a:xfrm>
            <a:off x="822960" y="4974336"/>
            <a:ext cx="1463040" cy="310896"/>
          </a:xfrm>
          <a:prstGeom prst="rect">
            <a:avLst/>
          </a:prstGeom>
          <a:noFill/>
          <a:ln/>
        </p:spPr>
        <p:txBody>
          <a:bodyPr wrap="square" lIns="0" tIns="0" rIns="0" bIns="0" rtlCol="0" anchor="ctr"/>
          <a:lstStyle/>
          <a:p>
            <a:pPr marL="0" indent="0" algn="l">
              <a:buNone/>
            </a:pPr>
            <a:r>
              <a:rPr lang="en-US" sz="1100" dirty="0">
                <a:solidFill>
                  <a:srgbClr val="16282C"/>
                </a:solidFill>
                <a:latin typeface="Calibri" pitchFamily="34" charset="0"/>
                <a:ea typeface="Calibri" pitchFamily="34" charset="-122"/>
                <a:cs typeface="Calibri" pitchFamily="34" charset="-120"/>
              </a:rPr>
              <a:t>BMI</a:t>
            </a:r>
            <a:endParaRPr lang="en-US" sz="1100" dirty="0"/>
          </a:p>
        </p:txBody>
      </p:sp>
      <p:sp>
        <p:nvSpPr>
          <p:cNvPr id="26" name="Shape 24"/>
          <p:cNvSpPr/>
          <p:nvPr/>
        </p:nvSpPr>
        <p:spPr>
          <a:xfrm>
            <a:off x="2377440" y="5001768"/>
            <a:ext cx="4297680" cy="256032"/>
          </a:xfrm>
          <a:prstGeom prst="roundRect">
            <a:avLst>
              <a:gd name="adj" fmla="val 14286"/>
            </a:avLst>
          </a:prstGeom>
          <a:solidFill>
            <a:srgbClr val="FFFFFF"/>
          </a:solidFill>
          <a:ln w="12700">
            <a:solidFill>
              <a:srgbClr val="D8E7E5"/>
            </a:solidFill>
            <a:prstDash val="solid"/>
          </a:ln>
        </p:spPr>
        <p:txBody>
          <a:bodyPr/>
          <a:lstStyle/>
          <a:p>
            <a:endParaRPr lang="en-IN"/>
          </a:p>
        </p:txBody>
      </p:sp>
      <p:sp>
        <p:nvSpPr>
          <p:cNvPr id="27" name="Shape 25"/>
          <p:cNvSpPr/>
          <p:nvPr/>
        </p:nvSpPr>
        <p:spPr>
          <a:xfrm>
            <a:off x="2377440" y="5001768"/>
            <a:ext cx="2492654" cy="256032"/>
          </a:xfrm>
          <a:prstGeom prst="roundRect">
            <a:avLst>
              <a:gd name="adj" fmla="val 14286"/>
            </a:avLst>
          </a:prstGeom>
          <a:solidFill>
            <a:srgbClr val="028090"/>
          </a:solidFill>
          <a:ln/>
        </p:spPr>
        <p:txBody>
          <a:bodyPr/>
          <a:lstStyle/>
          <a:p>
            <a:endParaRPr lang="en-IN"/>
          </a:p>
        </p:txBody>
      </p:sp>
      <p:sp>
        <p:nvSpPr>
          <p:cNvPr id="28" name="Text 26"/>
          <p:cNvSpPr/>
          <p:nvPr/>
        </p:nvSpPr>
        <p:spPr>
          <a:xfrm>
            <a:off x="822960" y="5404104"/>
            <a:ext cx="1463040" cy="310896"/>
          </a:xfrm>
          <a:prstGeom prst="rect">
            <a:avLst/>
          </a:prstGeom>
          <a:noFill/>
          <a:ln/>
        </p:spPr>
        <p:txBody>
          <a:bodyPr wrap="square" lIns="0" tIns="0" rIns="0" bIns="0" rtlCol="0" anchor="ctr"/>
          <a:lstStyle/>
          <a:p>
            <a:pPr marL="0" indent="0" algn="l">
              <a:buNone/>
            </a:pPr>
            <a:r>
              <a:rPr lang="en-US" sz="1100" dirty="0">
                <a:solidFill>
                  <a:srgbClr val="16282C"/>
                </a:solidFill>
                <a:latin typeface="Calibri" pitchFamily="34" charset="0"/>
                <a:ea typeface="Calibri" pitchFamily="34" charset="-122"/>
                <a:cs typeface="Calibri" pitchFamily="34" charset="-120"/>
              </a:rPr>
              <a:t>Age</a:t>
            </a:r>
            <a:endParaRPr lang="en-US" sz="1100" dirty="0"/>
          </a:p>
        </p:txBody>
      </p:sp>
      <p:sp>
        <p:nvSpPr>
          <p:cNvPr id="29" name="Shape 27"/>
          <p:cNvSpPr/>
          <p:nvPr/>
        </p:nvSpPr>
        <p:spPr>
          <a:xfrm>
            <a:off x="2377440" y="5431536"/>
            <a:ext cx="4297680" cy="256032"/>
          </a:xfrm>
          <a:prstGeom prst="roundRect">
            <a:avLst>
              <a:gd name="adj" fmla="val 14286"/>
            </a:avLst>
          </a:prstGeom>
          <a:solidFill>
            <a:srgbClr val="FFFFFF"/>
          </a:solidFill>
          <a:ln w="12700">
            <a:solidFill>
              <a:srgbClr val="D8E7E5"/>
            </a:solidFill>
            <a:prstDash val="solid"/>
          </a:ln>
        </p:spPr>
        <p:txBody>
          <a:bodyPr/>
          <a:lstStyle/>
          <a:p>
            <a:endParaRPr lang="en-IN"/>
          </a:p>
        </p:txBody>
      </p:sp>
      <p:sp>
        <p:nvSpPr>
          <p:cNvPr id="30" name="Shape 28"/>
          <p:cNvSpPr/>
          <p:nvPr/>
        </p:nvSpPr>
        <p:spPr>
          <a:xfrm>
            <a:off x="2377440" y="5431536"/>
            <a:ext cx="1890979" cy="256032"/>
          </a:xfrm>
          <a:prstGeom prst="roundRect">
            <a:avLst>
              <a:gd name="adj" fmla="val 14286"/>
            </a:avLst>
          </a:prstGeom>
          <a:solidFill>
            <a:srgbClr val="00A896"/>
          </a:solidFill>
          <a:ln/>
        </p:spPr>
        <p:txBody>
          <a:bodyPr/>
          <a:lstStyle/>
          <a:p>
            <a:endParaRPr lang="en-IN"/>
          </a:p>
        </p:txBody>
      </p:sp>
      <p:sp>
        <p:nvSpPr>
          <p:cNvPr id="31" name="Text 29"/>
          <p:cNvSpPr/>
          <p:nvPr/>
        </p:nvSpPr>
        <p:spPr>
          <a:xfrm>
            <a:off x="822960" y="5833872"/>
            <a:ext cx="1463040" cy="310896"/>
          </a:xfrm>
          <a:prstGeom prst="rect">
            <a:avLst/>
          </a:prstGeom>
          <a:noFill/>
          <a:ln/>
        </p:spPr>
        <p:txBody>
          <a:bodyPr wrap="square" lIns="0" tIns="0" rIns="0" bIns="0" rtlCol="0" anchor="ctr"/>
          <a:lstStyle/>
          <a:p>
            <a:pPr marL="0" indent="0" algn="l">
              <a:buNone/>
            </a:pPr>
            <a:r>
              <a:rPr lang="en-US" sz="1100" dirty="0">
                <a:solidFill>
                  <a:srgbClr val="16282C"/>
                </a:solidFill>
                <a:latin typeface="Calibri" pitchFamily="34" charset="0"/>
                <a:ea typeface="Calibri" pitchFamily="34" charset="-122"/>
                <a:cs typeface="Calibri" pitchFamily="34" charset="-120"/>
              </a:rPr>
              <a:t>Other Clinical Features</a:t>
            </a:r>
            <a:endParaRPr lang="en-US" sz="1100" dirty="0"/>
          </a:p>
        </p:txBody>
      </p:sp>
      <p:sp>
        <p:nvSpPr>
          <p:cNvPr id="32" name="Shape 30"/>
          <p:cNvSpPr/>
          <p:nvPr/>
        </p:nvSpPr>
        <p:spPr>
          <a:xfrm>
            <a:off x="2377440" y="5861304"/>
            <a:ext cx="4297680" cy="256032"/>
          </a:xfrm>
          <a:prstGeom prst="roundRect">
            <a:avLst>
              <a:gd name="adj" fmla="val 14286"/>
            </a:avLst>
          </a:prstGeom>
          <a:solidFill>
            <a:srgbClr val="FFFFFF"/>
          </a:solidFill>
          <a:ln w="12700">
            <a:solidFill>
              <a:srgbClr val="D8E7E5"/>
            </a:solidFill>
            <a:prstDash val="solid"/>
          </a:ln>
        </p:spPr>
        <p:txBody>
          <a:bodyPr/>
          <a:lstStyle/>
          <a:p>
            <a:endParaRPr lang="en-IN"/>
          </a:p>
        </p:txBody>
      </p:sp>
      <p:sp>
        <p:nvSpPr>
          <p:cNvPr id="33" name="Shape 31"/>
          <p:cNvSpPr/>
          <p:nvPr/>
        </p:nvSpPr>
        <p:spPr>
          <a:xfrm>
            <a:off x="2377440" y="5861304"/>
            <a:ext cx="1289304" cy="256032"/>
          </a:xfrm>
          <a:prstGeom prst="roundRect">
            <a:avLst>
              <a:gd name="adj" fmla="val 14286"/>
            </a:avLst>
          </a:prstGeom>
          <a:solidFill>
            <a:srgbClr val="028090"/>
          </a:solidFill>
          <a:ln/>
        </p:spPr>
        <p:txBody>
          <a:bodyPr/>
          <a:lstStyle/>
          <a:p>
            <a:endParaRPr lang="en-IN"/>
          </a:p>
        </p:txBody>
      </p:sp>
      <p:sp>
        <p:nvSpPr>
          <p:cNvPr id="34" name="Shape 32"/>
          <p:cNvSpPr/>
          <p:nvPr/>
        </p:nvSpPr>
        <p:spPr>
          <a:xfrm>
            <a:off x="7223760" y="3520440"/>
            <a:ext cx="4434840" cy="2788920"/>
          </a:xfrm>
          <a:prstGeom prst="roundRect">
            <a:avLst>
              <a:gd name="adj" fmla="val 3279"/>
            </a:avLst>
          </a:prstGeom>
          <a:solidFill>
            <a:srgbClr val="01353D"/>
          </a:solidFill>
          <a:ln/>
        </p:spPr>
        <p:txBody>
          <a:bodyPr/>
          <a:lstStyle/>
          <a:p>
            <a:endParaRPr lang="en-IN"/>
          </a:p>
        </p:txBody>
      </p:sp>
      <p:sp>
        <p:nvSpPr>
          <p:cNvPr id="35" name="Text 33"/>
          <p:cNvSpPr/>
          <p:nvPr/>
        </p:nvSpPr>
        <p:spPr>
          <a:xfrm>
            <a:off x="7498080" y="3703320"/>
            <a:ext cx="3931920" cy="320040"/>
          </a:xfrm>
          <a:prstGeom prst="rect">
            <a:avLst/>
          </a:prstGeom>
          <a:noFill/>
          <a:ln/>
        </p:spPr>
        <p:txBody>
          <a:bodyPr wrap="square"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Scope of SHAP</a:t>
            </a:r>
            <a:endParaRPr lang="en-US" sz="1350" dirty="0"/>
          </a:p>
        </p:txBody>
      </p:sp>
      <p:sp>
        <p:nvSpPr>
          <p:cNvPr id="36" name="Text 34"/>
          <p:cNvSpPr/>
          <p:nvPr/>
        </p:nvSpPr>
        <p:spPr>
          <a:xfrm>
            <a:off x="7498080" y="4114800"/>
            <a:ext cx="3977640" cy="8229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SHAP explains </a:t>
            </a:r>
            <a:r>
              <a:rPr lang="en-US" sz="1200" b="1" dirty="0">
                <a:solidFill>
                  <a:srgbClr val="02C39A"/>
                </a:solidFill>
                <a:latin typeface="Calibri" pitchFamily="34" charset="0"/>
                <a:ea typeface="Calibri" pitchFamily="34" charset="-122"/>
                <a:cs typeface="Calibri" pitchFamily="34" charset="-120"/>
              </a:rPr>
              <a:t>how</a:t>
            </a:r>
            <a:r>
              <a:rPr lang="en-US" sz="1200" dirty="0">
                <a:solidFill>
                  <a:srgbClr val="FFFFFF"/>
                </a:solidFill>
                <a:latin typeface="Calibri" pitchFamily="34" charset="0"/>
                <a:ea typeface="Calibri" pitchFamily="34" charset="-122"/>
                <a:cs typeface="Calibri" pitchFamily="34" charset="-120"/>
              </a:rPr>
              <a:t> the ML model arrived at a prediction — it does not itself make medical decisions.</a:t>
            </a:r>
            <a:endParaRPr lang="en-US" sz="1200" dirty="0"/>
          </a:p>
        </p:txBody>
      </p:sp>
      <p:sp>
        <p:nvSpPr>
          <p:cNvPr id="37" name="Text 35"/>
          <p:cNvSpPr/>
          <p:nvPr/>
        </p:nvSpPr>
        <p:spPr>
          <a:xfrm>
            <a:off x="7498080" y="5029200"/>
            <a:ext cx="3977640" cy="10058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It provides </a:t>
            </a:r>
            <a:r>
              <a:rPr lang="en-US" sz="1200" b="1" dirty="0">
                <a:solidFill>
                  <a:srgbClr val="02C39A"/>
                </a:solidFill>
                <a:latin typeface="Calibri" pitchFamily="34" charset="0"/>
                <a:ea typeface="Calibri" pitchFamily="34" charset="-122"/>
                <a:cs typeface="Calibri" pitchFamily="34" charset="-120"/>
              </a:rPr>
              <a:t>interpretability</a:t>
            </a:r>
            <a:r>
              <a:rPr lang="en-US" sz="1200" dirty="0">
                <a:solidFill>
                  <a:srgbClr val="FFFFFF"/>
                </a:solidFill>
                <a:latin typeface="Calibri" pitchFamily="34" charset="0"/>
                <a:ea typeface="Calibri" pitchFamily="34" charset="-122"/>
                <a:cs typeface="Calibri" pitchFamily="34" charset="-120"/>
              </a:rPr>
              <a:t> for the ML prediction, supporting — not replacing — clinical judgment.</a:t>
            </a:r>
            <a:endParaRPr lang="en-US" sz="1200" dirty="0"/>
          </a:p>
        </p:txBody>
      </p:sp>
      <p:sp>
        <p:nvSpPr>
          <p:cNvPr id="38" name="Text 3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4846320" cy="749808"/>
          </a:xfrm>
          <a:prstGeom prst="roundRect">
            <a:avLst>
              <a:gd name="adj" fmla="val 17073"/>
            </a:avLst>
          </a:prstGeom>
          <a:solidFill>
            <a:srgbClr val="01353D"/>
          </a:solidFill>
          <a:ln/>
        </p:spPr>
        <p:txBody>
          <a:bodyPr/>
          <a:lstStyle/>
          <a:p>
            <a:endParaRPr lang="en-IN"/>
          </a:p>
        </p:txBody>
      </p:sp>
      <p:sp>
        <p:nvSpPr>
          <p:cNvPr id="3" name="Text 1"/>
          <p:cNvSpPr/>
          <p:nvPr/>
        </p:nvSpPr>
        <p:spPr>
          <a:xfrm>
            <a:off x="548640" y="448056"/>
            <a:ext cx="4846320" cy="274320"/>
          </a:xfrm>
          <a:prstGeom prst="rect">
            <a:avLst/>
          </a:prstGeom>
          <a:noFill/>
          <a:ln/>
        </p:spPr>
        <p:txBody>
          <a:bodyPr wrap="square" lIns="0" tIns="0" rIns="0" bIns="0" rtlCol="0" anchor="ctr"/>
          <a:lstStyle/>
          <a:p>
            <a:pPr marL="0" indent="0" algn="ctr">
              <a:buNone/>
            </a:pPr>
            <a:r>
              <a:rPr lang="en-US" sz="1250" b="1" kern="0" spc="100" dirty="0">
                <a:solidFill>
                  <a:srgbClr val="02C39A"/>
                </a:solidFill>
                <a:latin typeface="Calibri" pitchFamily="34" charset="0"/>
                <a:ea typeface="Calibri" pitchFamily="34" charset="-122"/>
                <a:cs typeface="Calibri" pitchFamily="34" charset="-120"/>
              </a:rPr>
              <a:t>MILESTONE 3</a:t>
            </a:r>
            <a:endParaRPr lang="en-US" sz="1250" dirty="0"/>
          </a:p>
        </p:txBody>
      </p:sp>
      <p:sp>
        <p:nvSpPr>
          <p:cNvPr id="4" name="Text 2"/>
          <p:cNvSpPr/>
          <p:nvPr/>
        </p:nvSpPr>
        <p:spPr>
          <a:xfrm>
            <a:off x="685800" y="731520"/>
            <a:ext cx="457200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Continuous Monitoring &amp; Intelligent Alerts</a:t>
            </a:r>
            <a:endParaRPr lang="en-US" sz="1400" dirty="0"/>
          </a:p>
        </p:txBody>
      </p:sp>
      <p:sp>
        <p:nvSpPr>
          <p:cNvPr id="5" name="Text 3"/>
          <p:cNvSpPr/>
          <p:nvPr/>
        </p:nvSpPr>
        <p:spPr>
          <a:xfrm>
            <a:off x="548640" y="1261872"/>
            <a:ext cx="10058400" cy="365760"/>
          </a:xfrm>
          <a:prstGeom prst="rect">
            <a:avLst/>
          </a:prstGeom>
          <a:noFill/>
          <a:ln/>
        </p:spPr>
        <p:txBody>
          <a:bodyPr wrap="square" rtlCol="0" anchor="ctr"/>
          <a:lstStyle/>
          <a:p>
            <a:pPr marL="0" indent="0">
              <a:buNone/>
            </a:pPr>
            <a:r>
              <a:rPr lang="en-US" sz="1900" b="1" dirty="0">
                <a:solidFill>
                  <a:srgbClr val="16282C"/>
                </a:solidFill>
                <a:latin typeface="Cambria" pitchFamily="34" charset="0"/>
                <a:ea typeface="Cambria" pitchFamily="34" charset="-122"/>
                <a:cs typeface="Cambria" pitchFamily="34" charset="-120"/>
              </a:rPr>
              <a:t>Streaming Vitals with Kafka &amp; Real-Time</a:t>
            </a:r>
          </a:p>
          <a:p>
            <a:pPr marL="0" indent="0">
              <a:buNone/>
            </a:pPr>
            <a:r>
              <a:rPr lang="en-US" sz="1900" b="1" dirty="0">
                <a:solidFill>
                  <a:srgbClr val="16282C"/>
                </a:solidFill>
                <a:latin typeface="Cambria" pitchFamily="34" charset="0"/>
                <a:ea typeface="Cambria" pitchFamily="34" charset="-122"/>
                <a:cs typeface="Cambria" pitchFamily="34" charset="-120"/>
              </a:rPr>
              <a:t> Risk Evaluation</a:t>
            </a:r>
            <a:endParaRPr lang="en-US" sz="1900" dirty="0"/>
          </a:p>
        </p:txBody>
      </p:sp>
      <p:sp>
        <p:nvSpPr>
          <p:cNvPr id="6" name="Text 4"/>
          <p:cNvSpPr/>
          <p:nvPr/>
        </p:nvSpPr>
        <p:spPr>
          <a:xfrm>
            <a:off x="548640" y="1691640"/>
            <a:ext cx="5212080" cy="2423160"/>
          </a:xfrm>
          <a:prstGeom prst="rect">
            <a:avLst/>
          </a:prstGeom>
          <a:noFill/>
          <a:ln/>
        </p:spPr>
        <p:txBody>
          <a:bodyPr wrap="square" lIns="0" tIns="0" rIns="0" bIns="0" rtlCol="0" anchor="t"/>
          <a:lstStyle/>
          <a:p>
            <a:pPr marL="228600" indent="-228600">
              <a:spcAft>
                <a:spcPts val="700"/>
              </a:spcAft>
              <a:buSzPct val="100000"/>
              <a:buChar char="▪"/>
            </a:pPr>
            <a:r>
              <a:rPr lang="en-US" sz="1200" dirty="0">
                <a:solidFill>
                  <a:srgbClr val="16282C"/>
                </a:solidFill>
                <a:latin typeface="Calibri" pitchFamily="34" charset="0"/>
                <a:ea typeface="Calibri" pitchFamily="34" charset="-122"/>
                <a:cs typeface="Calibri" pitchFamily="34" charset="-120"/>
              </a:rPr>
              <a:t>Real-time vitals are continuously collected</a:t>
            </a:r>
            <a:endParaRPr lang="en-US" sz="1200" dirty="0"/>
          </a:p>
          <a:p>
            <a:pPr marL="228600" indent="-228600">
              <a:spcAft>
                <a:spcPts val="700"/>
              </a:spcAft>
              <a:buSzPct val="100000"/>
              <a:buChar char="▪"/>
            </a:pPr>
            <a:r>
              <a:rPr lang="en-US" sz="1200" dirty="0">
                <a:solidFill>
                  <a:srgbClr val="16282C"/>
                </a:solidFill>
                <a:latin typeface="Calibri" pitchFamily="34" charset="0"/>
                <a:ea typeface="Calibri" pitchFamily="34" charset="-122"/>
                <a:cs typeface="Calibri" pitchFamily="34" charset="-120"/>
              </a:rPr>
              <a:t>Kafka streams health data across services</a:t>
            </a:r>
            <a:endParaRPr lang="en-US" sz="1200" dirty="0"/>
          </a:p>
          <a:p>
            <a:pPr marL="228600" indent="-228600">
              <a:spcAft>
                <a:spcPts val="700"/>
              </a:spcAft>
              <a:buSzPct val="100000"/>
              <a:buChar char="▪"/>
            </a:pPr>
            <a:r>
              <a:rPr lang="en-US" sz="1200" dirty="0">
                <a:solidFill>
                  <a:srgbClr val="16282C"/>
                </a:solidFill>
                <a:latin typeface="Calibri" pitchFamily="34" charset="0"/>
                <a:ea typeface="Calibri" pitchFamily="34" charset="-122"/>
                <a:cs typeface="Calibri" pitchFamily="34" charset="-120"/>
              </a:rPr>
              <a:t>Vitals are published to Kafka topics</a:t>
            </a:r>
            <a:endParaRPr lang="en-US" sz="1200" dirty="0"/>
          </a:p>
          <a:p>
            <a:pPr marL="228600" indent="-228600">
              <a:spcAft>
                <a:spcPts val="700"/>
              </a:spcAft>
              <a:buSzPct val="100000"/>
              <a:buChar char="▪"/>
            </a:pPr>
            <a:r>
              <a:rPr lang="en-US" sz="1200" dirty="0">
                <a:solidFill>
                  <a:srgbClr val="16282C"/>
                </a:solidFill>
                <a:latin typeface="Calibri" pitchFamily="34" charset="0"/>
                <a:ea typeface="Calibri" pitchFamily="34" charset="-122"/>
                <a:cs typeface="Calibri" pitchFamily="34" charset="-120"/>
              </a:rPr>
              <a:t>The system monitors for abnormal conditions</a:t>
            </a:r>
            <a:endParaRPr lang="en-US" sz="1200" dirty="0"/>
          </a:p>
          <a:p>
            <a:pPr marL="228600" indent="-228600">
              <a:spcAft>
                <a:spcPts val="700"/>
              </a:spcAft>
              <a:buSzPct val="100000"/>
              <a:buChar char="▪"/>
            </a:pPr>
            <a:r>
              <a:rPr lang="en-US" sz="1200" dirty="0">
                <a:solidFill>
                  <a:srgbClr val="16282C"/>
                </a:solidFill>
                <a:latin typeface="Calibri" pitchFamily="34" charset="0"/>
                <a:ea typeface="Calibri" pitchFamily="34" charset="-122"/>
                <a:cs typeface="Calibri" pitchFamily="34" charset="-120"/>
              </a:rPr>
              <a:t>Alerts are generated when thresholds / risk conditions are detected</a:t>
            </a:r>
            <a:endParaRPr lang="en-US" sz="1200" dirty="0"/>
          </a:p>
        </p:txBody>
      </p:sp>
      <p:sp>
        <p:nvSpPr>
          <p:cNvPr id="7" name="Text 5"/>
          <p:cNvSpPr/>
          <p:nvPr/>
        </p:nvSpPr>
        <p:spPr>
          <a:xfrm>
            <a:off x="548640" y="3751960"/>
            <a:ext cx="365760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Kafka Topics</a:t>
            </a:r>
            <a:endParaRPr lang="en-US" sz="1250" dirty="0"/>
          </a:p>
        </p:txBody>
      </p:sp>
      <p:sp>
        <p:nvSpPr>
          <p:cNvPr id="8" name="Shape 6"/>
          <p:cNvSpPr/>
          <p:nvPr/>
        </p:nvSpPr>
        <p:spPr>
          <a:xfrm>
            <a:off x="548640" y="4072000"/>
            <a:ext cx="2926080" cy="347472"/>
          </a:xfrm>
          <a:prstGeom prst="roundRect">
            <a:avLst>
              <a:gd name="adj" fmla="val 50000"/>
            </a:avLst>
          </a:prstGeom>
          <a:solidFill>
            <a:srgbClr val="FFFFFF"/>
          </a:solidFill>
          <a:ln w="12700">
            <a:solidFill>
              <a:srgbClr val="00A896"/>
            </a:solidFill>
            <a:prstDash val="solid"/>
          </a:ln>
        </p:spPr>
        <p:txBody>
          <a:bodyPr/>
          <a:lstStyle/>
          <a:p>
            <a:endParaRPr lang="en-IN"/>
          </a:p>
        </p:txBody>
      </p:sp>
      <p:sp>
        <p:nvSpPr>
          <p:cNvPr id="9" name="Text 7"/>
          <p:cNvSpPr/>
          <p:nvPr/>
        </p:nvSpPr>
        <p:spPr>
          <a:xfrm>
            <a:off x="548640" y="4072000"/>
            <a:ext cx="2926080" cy="347472"/>
          </a:xfrm>
          <a:prstGeom prst="rect">
            <a:avLst/>
          </a:prstGeom>
          <a:noFill/>
          <a:ln/>
        </p:spPr>
        <p:txBody>
          <a:bodyPr wrap="square" lIns="0" tIns="0" rIns="0" bIns="0" rtlCol="0" anchor="ctr"/>
          <a:lstStyle/>
          <a:p>
            <a:pPr marL="0" indent="0" algn="ctr">
              <a:buNone/>
            </a:pPr>
            <a:r>
              <a:rPr lang="en-US" sz="1050" b="1" dirty="0">
                <a:solidFill>
                  <a:srgbClr val="01353D"/>
                </a:solidFill>
                <a:latin typeface="Courier New" pitchFamily="34" charset="0"/>
                <a:ea typeface="Courier New" pitchFamily="34" charset="-122"/>
                <a:cs typeface="Courier New" pitchFamily="34" charset="-120"/>
              </a:rPr>
              <a:t>vitals-stream</a:t>
            </a:r>
            <a:endParaRPr lang="en-US" sz="1050" dirty="0"/>
          </a:p>
        </p:txBody>
      </p:sp>
      <p:sp>
        <p:nvSpPr>
          <p:cNvPr id="10" name="Shape 8"/>
          <p:cNvSpPr/>
          <p:nvPr/>
        </p:nvSpPr>
        <p:spPr>
          <a:xfrm>
            <a:off x="548640" y="4492624"/>
            <a:ext cx="2926080" cy="347472"/>
          </a:xfrm>
          <a:prstGeom prst="roundRect">
            <a:avLst>
              <a:gd name="adj" fmla="val 50000"/>
            </a:avLst>
          </a:prstGeom>
          <a:solidFill>
            <a:srgbClr val="FFFFFF"/>
          </a:solidFill>
          <a:ln w="12700">
            <a:solidFill>
              <a:srgbClr val="00A896"/>
            </a:solidFill>
            <a:prstDash val="solid"/>
          </a:ln>
        </p:spPr>
        <p:txBody>
          <a:bodyPr/>
          <a:lstStyle/>
          <a:p>
            <a:endParaRPr lang="en-IN"/>
          </a:p>
        </p:txBody>
      </p:sp>
      <p:sp>
        <p:nvSpPr>
          <p:cNvPr id="11" name="Text 9"/>
          <p:cNvSpPr/>
          <p:nvPr/>
        </p:nvSpPr>
        <p:spPr>
          <a:xfrm>
            <a:off x="548640" y="4492624"/>
            <a:ext cx="2926080" cy="347472"/>
          </a:xfrm>
          <a:prstGeom prst="rect">
            <a:avLst/>
          </a:prstGeom>
          <a:noFill/>
          <a:ln/>
        </p:spPr>
        <p:txBody>
          <a:bodyPr wrap="square" lIns="0" tIns="0" rIns="0" bIns="0" rtlCol="0" anchor="ctr"/>
          <a:lstStyle/>
          <a:p>
            <a:pPr marL="0" indent="0" algn="ctr">
              <a:buNone/>
            </a:pPr>
            <a:r>
              <a:rPr lang="en-US" sz="1050" b="1" dirty="0">
                <a:solidFill>
                  <a:srgbClr val="01353D"/>
                </a:solidFill>
                <a:latin typeface="Courier New" pitchFamily="34" charset="0"/>
                <a:ea typeface="Courier New" pitchFamily="34" charset="-122"/>
                <a:cs typeface="Courier New" pitchFamily="34" charset="-120"/>
              </a:rPr>
              <a:t>alerts-stream</a:t>
            </a:r>
            <a:endParaRPr lang="en-US" sz="1050" dirty="0"/>
          </a:p>
        </p:txBody>
      </p:sp>
      <p:sp>
        <p:nvSpPr>
          <p:cNvPr id="12" name="Shape 10"/>
          <p:cNvSpPr/>
          <p:nvPr/>
        </p:nvSpPr>
        <p:spPr>
          <a:xfrm>
            <a:off x="548640" y="4913248"/>
            <a:ext cx="2926080" cy="347472"/>
          </a:xfrm>
          <a:prstGeom prst="roundRect">
            <a:avLst>
              <a:gd name="adj" fmla="val 50000"/>
            </a:avLst>
          </a:prstGeom>
          <a:solidFill>
            <a:srgbClr val="FFFFFF"/>
          </a:solidFill>
          <a:ln w="12700">
            <a:solidFill>
              <a:srgbClr val="00A896"/>
            </a:solidFill>
            <a:prstDash val="solid"/>
          </a:ln>
        </p:spPr>
        <p:txBody>
          <a:bodyPr/>
          <a:lstStyle/>
          <a:p>
            <a:endParaRPr lang="en-IN"/>
          </a:p>
        </p:txBody>
      </p:sp>
      <p:sp>
        <p:nvSpPr>
          <p:cNvPr id="13" name="Text 11"/>
          <p:cNvSpPr/>
          <p:nvPr/>
        </p:nvSpPr>
        <p:spPr>
          <a:xfrm>
            <a:off x="548640" y="4913248"/>
            <a:ext cx="2926080" cy="347472"/>
          </a:xfrm>
          <a:prstGeom prst="rect">
            <a:avLst/>
          </a:prstGeom>
          <a:noFill/>
          <a:ln/>
        </p:spPr>
        <p:txBody>
          <a:bodyPr wrap="square" lIns="0" tIns="0" rIns="0" bIns="0" rtlCol="0" anchor="ctr"/>
          <a:lstStyle/>
          <a:p>
            <a:pPr marL="0" indent="0" algn="ctr">
              <a:buNone/>
            </a:pPr>
            <a:r>
              <a:rPr lang="en-US" sz="1050" b="1" dirty="0">
                <a:solidFill>
                  <a:srgbClr val="01353D"/>
                </a:solidFill>
                <a:latin typeface="Courier New" pitchFamily="34" charset="0"/>
                <a:ea typeface="Courier New" pitchFamily="34" charset="-122"/>
                <a:cs typeface="Courier New" pitchFamily="34" charset="-120"/>
              </a:rPr>
              <a:t>notification-stream</a:t>
            </a:r>
            <a:endParaRPr lang="en-US" sz="1050" dirty="0"/>
          </a:p>
        </p:txBody>
      </p:sp>
      <p:sp>
        <p:nvSpPr>
          <p:cNvPr id="14" name="Text 12"/>
          <p:cNvSpPr/>
          <p:nvPr/>
        </p:nvSpPr>
        <p:spPr>
          <a:xfrm>
            <a:off x="548640" y="5425312"/>
            <a:ext cx="530352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Why Kafka?</a:t>
            </a:r>
            <a:endParaRPr lang="en-US" sz="1250" dirty="0"/>
          </a:p>
        </p:txBody>
      </p:sp>
      <p:sp>
        <p:nvSpPr>
          <p:cNvPr id="15" name="Text 13"/>
          <p:cNvSpPr/>
          <p:nvPr/>
        </p:nvSpPr>
        <p:spPr>
          <a:xfrm>
            <a:off x="548640" y="5717920"/>
            <a:ext cx="5394960" cy="548640"/>
          </a:xfrm>
          <a:prstGeom prst="rect">
            <a:avLst/>
          </a:prstGeom>
          <a:noFill/>
          <a:ln/>
        </p:spPr>
        <p:txBody>
          <a:bodyPr wrap="square" rtlCol="0" anchor="t"/>
          <a:lstStyle/>
          <a:p>
            <a:pPr marL="0" indent="0">
              <a:buNone/>
            </a:pPr>
            <a:r>
              <a:rPr lang="en-US" sz="1050" dirty="0">
                <a:solidFill>
                  <a:srgbClr val="16282C"/>
                </a:solidFill>
                <a:latin typeface="Calibri" pitchFamily="34" charset="0"/>
                <a:ea typeface="Calibri" pitchFamily="34" charset="-122"/>
                <a:cs typeface="Calibri" pitchFamily="34" charset="-120"/>
              </a:rPr>
              <a:t>Real-time streaming  ·  Decoupled microservices  ·  Scalable event processing  ·  Reliable async communication</a:t>
            </a:r>
            <a:endParaRPr lang="en-US" sz="1050" dirty="0"/>
          </a:p>
        </p:txBody>
      </p:sp>
      <p:sp>
        <p:nvSpPr>
          <p:cNvPr id="17" name="Text 15"/>
          <p:cNvSpPr/>
          <p:nvPr/>
        </p:nvSpPr>
        <p:spPr>
          <a:xfrm>
            <a:off x="6492240" y="1828800"/>
            <a:ext cx="4937760" cy="274320"/>
          </a:xfrm>
          <a:prstGeom prst="rect">
            <a:avLst/>
          </a:prstGeom>
          <a:noFill/>
          <a:ln/>
        </p:spPr>
        <p:txBody>
          <a:bodyPr wrap="square" rtlCol="0" anchor="ctr"/>
          <a:lstStyle/>
          <a:p>
            <a:pPr marL="0" indent="0">
              <a:buNone/>
            </a:pPr>
            <a:endParaRPr lang="en-US" sz="1250" dirty="0"/>
          </a:p>
        </p:txBody>
      </p:sp>
      <p:sp>
        <p:nvSpPr>
          <p:cNvPr id="19" name="Text 17"/>
          <p:cNvSpPr/>
          <p:nvPr/>
        </p:nvSpPr>
        <p:spPr>
          <a:xfrm>
            <a:off x="6858000" y="2194560"/>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Wearable / Patient Data</a:t>
            </a:r>
            <a:endParaRPr lang="en-US" sz="1150" dirty="0"/>
          </a:p>
        </p:txBody>
      </p:sp>
      <p:sp>
        <p:nvSpPr>
          <p:cNvPr id="22" name="Text 20"/>
          <p:cNvSpPr/>
          <p:nvPr/>
        </p:nvSpPr>
        <p:spPr>
          <a:xfrm>
            <a:off x="6858000" y="2752344"/>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Vital Data</a:t>
            </a:r>
            <a:endParaRPr lang="en-US" sz="1150" dirty="0"/>
          </a:p>
        </p:txBody>
      </p:sp>
      <p:sp>
        <p:nvSpPr>
          <p:cNvPr id="25" name="Text 23"/>
          <p:cNvSpPr/>
          <p:nvPr/>
        </p:nvSpPr>
        <p:spPr>
          <a:xfrm>
            <a:off x="6858000" y="3310128"/>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Kafka</a:t>
            </a:r>
            <a:endParaRPr lang="en-US" sz="1150" dirty="0"/>
          </a:p>
        </p:txBody>
      </p:sp>
      <p:sp>
        <p:nvSpPr>
          <p:cNvPr id="28" name="Text 26"/>
          <p:cNvSpPr/>
          <p:nvPr/>
        </p:nvSpPr>
        <p:spPr>
          <a:xfrm>
            <a:off x="6858000" y="3867912"/>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FHIR / Monitoring Service</a:t>
            </a:r>
            <a:endParaRPr lang="en-US" sz="1150" dirty="0"/>
          </a:p>
        </p:txBody>
      </p:sp>
      <p:sp>
        <p:nvSpPr>
          <p:cNvPr id="31" name="Text 29"/>
          <p:cNvSpPr/>
          <p:nvPr/>
        </p:nvSpPr>
        <p:spPr>
          <a:xfrm>
            <a:off x="6858000" y="4425696"/>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Risk Evaluation</a:t>
            </a:r>
            <a:endParaRPr lang="en-US" sz="1150" dirty="0"/>
          </a:p>
        </p:txBody>
      </p:sp>
      <p:sp>
        <p:nvSpPr>
          <p:cNvPr id="34" name="Text 32"/>
          <p:cNvSpPr/>
          <p:nvPr/>
        </p:nvSpPr>
        <p:spPr>
          <a:xfrm>
            <a:off x="6858000" y="4983480"/>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Alert Service</a:t>
            </a:r>
            <a:endParaRPr lang="en-US" sz="1150" dirty="0"/>
          </a:p>
        </p:txBody>
      </p:sp>
      <p:sp>
        <p:nvSpPr>
          <p:cNvPr id="37" name="Text 35"/>
          <p:cNvSpPr/>
          <p:nvPr/>
        </p:nvSpPr>
        <p:spPr>
          <a:xfrm>
            <a:off x="6858000" y="5541264"/>
            <a:ext cx="420624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Doctor / Patient Notification</a:t>
            </a:r>
            <a:endParaRPr lang="en-US" sz="1150" dirty="0"/>
          </a:p>
        </p:txBody>
      </p:sp>
      <p:sp>
        <p:nvSpPr>
          <p:cNvPr id="38" name="Text 3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07</a:t>
            </a:r>
            <a:endParaRPr lang="en-US" sz="1000" dirty="0"/>
          </a:p>
        </p:txBody>
      </p:sp>
      <p:pic>
        <p:nvPicPr>
          <p:cNvPr id="40" name="Picture 39">
            <a:extLst>
              <a:ext uri="{FF2B5EF4-FFF2-40B4-BE49-F238E27FC236}">
                <a16:creationId xmlns:a16="http://schemas.microsoft.com/office/drawing/2014/main" id="{DEBE2ADE-F8EF-D9EC-7FFE-70DDE774F9F3}"/>
              </a:ext>
            </a:extLst>
          </p:cNvPr>
          <p:cNvPicPr>
            <a:picLocks noChangeAspect="1"/>
          </p:cNvPicPr>
          <p:nvPr/>
        </p:nvPicPr>
        <p:blipFill>
          <a:blip r:embed="rId3"/>
          <a:stretch>
            <a:fillRect/>
          </a:stretch>
        </p:blipFill>
        <p:spPr>
          <a:xfrm>
            <a:off x="5760720" y="448056"/>
            <a:ext cx="6354769" cy="59289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4114800" cy="749808"/>
          </a:xfrm>
          <a:prstGeom prst="roundRect">
            <a:avLst>
              <a:gd name="adj" fmla="val 17073"/>
            </a:avLst>
          </a:prstGeom>
          <a:solidFill>
            <a:srgbClr val="01353D"/>
          </a:solidFill>
          <a:ln/>
        </p:spPr>
        <p:txBody>
          <a:bodyPr/>
          <a:lstStyle/>
          <a:p>
            <a:endParaRPr lang="en-IN"/>
          </a:p>
        </p:txBody>
      </p:sp>
      <p:sp>
        <p:nvSpPr>
          <p:cNvPr id="3" name="Text 1"/>
          <p:cNvSpPr/>
          <p:nvPr/>
        </p:nvSpPr>
        <p:spPr>
          <a:xfrm>
            <a:off x="548640" y="448056"/>
            <a:ext cx="4114800" cy="274320"/>
          </a:xfrm>
          <a:prstGeom prst="rect">
            <a:avLst/>
          </a:prstGeom>
          <a:noFill/>
          <a:ln/>
        </p:spPr>
        <p:txBody>
          <a:bodyPr wrap="square" lIns="0" tIns="0" rIns="0" bIns="0" rtlCol="0" anchor="ctr"/>
          <a:lstStyle/>
          <a:p>
            <a:pPr marL="0" indent="0" algn="ctr">
              <a:buNone/>
            </a:pPr>
            <a:r>
              <a:rPr lang="en-US" sz="1250" b="1" kern="0" spc="100" dirty="0">
                <a:solidFill>
                  <a:srgbClr val="02C39A"/>
                </a:solidFill>
                <a:latin typeface="Calibri" pitchFamily="34" charset="0"/>
                <a:ea typeface="Calibri" pitchFamily="34" charset="-122"/>
                <a:cs typeface="Calibri" pitchFamily="34" charset="-120"/>
              </a:rPr>
              <a:t>MILESTONE 4</a:t>
            </a:r>
            <a:endParaRPr lang="en-US" sz="1250" dirty="0"/>
          </a:p>
        </p:txBody>
      </p:sp>
      <p:sp>
        <p:nvSpPr>
          <p:cNvPr id="4" name="Text 2"/>
          <p:cNvSpPr/>
          <p:nvPr/>
        </p:nvSpPr>
        <p:spPr>
          <a:xfrm>
            <a:off x="685800" y="731520"/>
            <a:ext cx="384048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AI-Powered Personalized Care Plans</a:t>
            </a:r>
            <a:endParaRPr lang="en-US" sz="1400" dirty="0"/>
          </a:p>
        </p:txBody>
      </p:sp>
      <p:sp>
        <p:nvSpPr>
          <p:cNvPr id="5" name="Text 3"/>
          <p:cNvSpPr/>
          <p:nvPr/>
        </p:nvSpPr>
        <p:spPr>
          <a:xfrm>
            <a:off x="548640" y="1261872"/>
            <a:ext cx="10515600" cy="365760"/>
          </a:xfrm>
          <a:prstGeom prst="rect">
            <a:avLst/>
          </a:prstGeom>
          <a:noFill/>
          <a:ln/>
        </p:spPr>
        <p:txBody>
          <a:bodyPr wrap="square" rtlCol="0" anchor="ctr"/>
          <a:lstStyle/>
          <a:p>
            <a:pPr marL="0" indent="0">
              <a:buNone/>
            </a:pPr>
            <a:r>
              <a:rPr lang="en-US" sz="1800" b="1" dirty="0">
                <a:solidFill>
                  <a:srgbClr val="16282C"/>
                </a:solidFill>
                <a:latin typeface="Cambria" pitchFamily="34" charset="0"/>
                <a:ea typeface="Cambria" pitchFamily="34" charset="-122"/>
                <a:cs typeface="Cambria" pitchFamily="34" charset="-120"/>
              </a:rPr>
              <a:t>Beyond Prediction — Actionable, Personalized Recommendations</a:t>
            </a:r>
            <a:endParaRPr lang="en-US" sz="1800" dirty="0"/>
          </a:p>
        </p:txBody>
      </p:sp>
      <p:sp>
        <p:nvSpPr>
          <p:cNvPr id="6" name="Shape 4"/>
          <p:cNvSpPr/>
          <p:nvPr/>
        </p:nvSpPr>
        <p:spPr>
          <a:xfrm>
            <a:off x="548640" y="1737360"/>
            <a:ext cx="5212080" cy="914400"/>
          </a:xfrm>
          <a:prstGeom prst="roundRect">
            <a:avLst>
              <a:gd name="adj" fmla="val 10000"/>
            </a:avLst>
          </a:prstGeom>
          <a:solidFill>
            <a:srgbClr val="FBEDE8"/>
          </a:solidFill>
          <a:ln/>
        </p:spPr>
        <p:txBody>
          <a:bodyPr/>
          <a:lstStyle/>
          <a:p>
            <a:endParaRPr lang="en-IN"/>
          </a:p>
        </p:txBody>
      </p:sp>
      <p:sp>
        <p:nvSpPr>
          <p:cNvPr id="7" name="Text 5"/>
          <p:cNvSpPr/>
          <p:nvPr/>
        </p:nvSpPr>
        <p:spPr>
          <a:xfrm>
            <a:off x="777240" y="1810512"/>
            <a:ext cx="4754880" cy="274320"/>
          </a:xfrm>
          <a:prstGeom prst="rect">
            <a:avLst/>
          </a:prstGeom>
          <a:noFill/>
          <a:ln/>
        </p:spPr>
        <p:txBody>
          <a:bodyPr wrap="square" rtlCol="0" anchor="ctr"/>
          <a:lstStyle/>
          <a:p>
            <a:pPr marL="0" indent="0">
              <a:buNone/>
            </a:pPr>
            <a:r>
              <a:rPr lang="en-US" sz="1100" b="1" dirty="0">
                <a:solidFill>
                  <a:srgbClr val="A8442B"/>
                </a:solidFill>
                <a:latin typeface="Calibri" pitchFamily="34" charset="0"/>
                <a:ea typeface="Calibri" pitchFamily="34" charset="-122"/>
                <a:cs typeface="Calibri" pitchFamily="34" charset="-120"/>
              </a:rPr>
              <a:t>✕  Instead of only saying:</a:t>
            </a:r>
            <a:endParaRPr lang="en-US" sz="1100" dirty="0"/>
          </a:p>
        </p:txBody>
      </p:sp>
      <p:sp>
        <p:nvSpPr>
          <p:cNvPr id="8" name="Text 6"/>
          <p:cNvSpPr/>
          <p:nvPr/>
        </p:nvSpPr>
        <p:spPr>
          <a:xfrm>
            <a:off x="777240" y="2084832"/>
            <a:ext cx="4754880" cy="457200"/>
          </a:xfrm>
          <a:prstGeom prst="rect">
            <a:avLst/>
          </a:prstGeom>
          <a:noFill/>
          <a:ln/>
        </p:spPr>
        <p:txBody>
          <a:bodyPr wrap="square" rtlCol="0" anchor="ctr"/>
          <a:lstStyle/>
          <a:p>
            <a:pPr marL="0" indent="0">
              <a:buNone/>
            </a:pPr>
            <a:r>
              <a:rPr lang="en-US" sz="1500" i="1" dirty="0">
                <a:solidFill>
                  <a:srgbClr val="A8442B"/>
                </a:solidFill>
                <a:latin typeface="Cambria" pitchFamily="34" charset="0"/>
                <a:ea typeface="Cambria" pitchFamily="34" charset="-122"/>
                <a:cs typeface="Cambria" pitchFamily="34" charset="-120"/>
              </a:rPr>
              <a:t>“Patient is at risk.”</a:t>
            </a:r>
            <a:endParaRPr lang="en-US" sz="1500" dirty="0"/>
          </a:p>
        </p:txBody>
      </p:sp>
      <p:sp>
        <p:nvSpPr>
          <p:cNvPr id="9" name="Shape 7"/>
          <p:cNvSpPr/>
          <p:nvPr/>
        </p:nvSpPr>
        <p:spPr>
          <a:xfrm>
            <a:off x="548640" y="2880360"/>
            <a:ext cx="5212080" cy="1051560"/>
          </a:xfrm>
          <a:prstGeom prst="roundRect">
            <a:avLst>
              <a:gd name="adj" fmla="val 8696"/>
            </a:avLst>
          </a:prstGeom>
          <a:solidFill>
            <a:srgbClr val="EFF7F6"/>
          </a:solidFill>
          <a:ln/>
        </p:spPr>
        <p:txBody>
          <a:bodyPr/>
          <a:lstStyle/>
          <a:p>
            <a:endParaRPr lang="en-IN"/>
          </a:p>
        </p:txBody>
      </p:sp>
      <p:sp>
        <p:nvSpPr>
          <p:cNvPr id="10" name="Text 8"/>
          <p:cNvSpPr/>
          <p:nvPr/>
        </p:nvSpPr>
        <p:spPr>
          <a:xfrm>
            <a:off x="777240" y="2971800"/>
            <a:ext cx="475488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The system generates:</a:t>
            </a:r>
            <a:endParaRPr lang="en-US" sz="1100" dirty="0"/>
          </a:p>
        </p:txBody>
      </p:sp>
      <p:sp>
        <p:nvSpPr>
          <p:cNvPr id="11" name="Text 9"/>
          <p:cNvSpPr/>
          <p:nvPr/>
        </p:nvSpPr>
        <p:spPr>
          <a:xfrm>
            <a:off x="777240" y="3264408"/>
            <a:ext cx="4754880" cy="502920"/>
          </a:xfrm>
          <a:prstGeom prst="rect">
            <a:avLst/>
          </a:prstGeom>
          <a:noFill/>
          <a:ln/>
        </p:spPr>
        <p:txBody>
          <a:bodyPr wrap="square" rtlCol="0" anchor="ctr"/>
          <a:lstStyle/>
          <a:p>
            <a:pPr marL="0" indent="0">
              <a:buNone/>
            </a:pPr>
            <a:r>
              <a:rPr lang="en-US" sz="1500" b="1" dirty="0">
                <a:solidFill>
                  <a:srgbClr val="01353D"/>
                </a:solidFill>
                <a:latin typeface="Cambria" pitchFamily="34" charset="0"/>
                <a:ea typeface="Cambria" pitchFamily="34" charset="-122"/>
                <a:cs typeface="Cambria" pitchFamily="34" charset="-120"/>
              </a:rPr>
              <a:t>Actionable, personalized recommendations</a:t>
            </a:r>
            <a:endParaRPr lang="en-US" sz="1500" dirty="0"/>
          </a:p>
        </p:txBody>
      </p:sp>
      <p:sp>
        <p:nvSpPr>
          <p:cNvPr id="12" name="Text 10"/>
          <p:cNvSpPr/>
          <p:nvPr/>
        </p:nvSpPr>
        <p:spPr>
          <a:xfrm>
            <a:off x="548640" y="4114800"/>
            <a:ext cx="457200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Care Plan Contents</a:t>
            </a:r>
            <a:endParaRPr lang="en-US" sz="1250" dirty="0"/>
          </a:p>
        </p:txBody>
      </p:sp>
      <p:sp>
        <p:nvSpPr>
          <p:cNvPr id="13" name="Shape 11"/>
          <p:cNvSpPr/>
          <p:nvPr/>
        </p:nvSpPr>
        <p:spPr>
          <a:xfrm>
            <a:off x="548640" y="44348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14" name="Text 12"/>
          <p:cNvSpPr/>
          <p:nvPr/>
        </p:nvSpPr>
        <p:spPr>
          <a:xfrm>
            <a:off x="640080" y="44348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Health goal</a:t>
            </a:r>
            <a:endParaRPr lang="en-US" sz="1000" dirty="0"/>
          </a:p>
        </p:txBody>
      </p:sp>
      <p:sp>
        <p:nvSpPr>
          <p:cNvPr id="15" name="Shape 13"/>
          <p:cNvSpPr/>
          <p:nvPr/>
        </p:nvSpPr>
        <p:spPr>
          <a:xfrm>
            <a:off x="3246120" y="44348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16" name="Text 14"/>
          <p:cNvSpPr/>
          <p:nvPr/>
        </p:nvSpPr>
        <p:spPr>
          <a:xfrm>
            <a:off x="3337560" y="44348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Medication info</a:t>
            </a:r>
            <a:endParaRPr lang="en-US" sz="1000" dirty="0"/>
          </a:p>
        </p:txBody>
      </p:sp>
      <p:sp>
        <p:nvSpPr>
          <p:cNvPr id="17" name="Shape 15"/>
          <p:cNvSpPr/>
          <p:nvPr/>
        </p:nvSpPr>
        <p:spPr>
          <a:xfrm>
            <a:off x="548640" y="48920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18" name="Text 16"/>
          <p:cNvSpPr/>
          <p:nvPr/>
        </p:nvSpPr>
        <p:spPr>
          <a:xfrm>
            <a:off x="640080" y="48920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Diet recommendations</a:t>
            </a:r>
            <a:endParaRPr lang="en-US" sz="1000" dirty="0"/>
          </a:p>
        </p:txBody>
      </p:sp>
      <p:sp>
        <p:nvSpPr>
          <p:cNvPr id="19" name="Shape 17"/>
          <p:cNvSpPr/>
          <p:nvPr/>
        </p:nvSpPr>
        <p:spPr>
          <a:xfrm>
            <a:off x="3246120" y="48920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20" name="Text 18"/>
          <p:cNvSpPr/>
          <p:nvPr/>
        </p:nvSpPr>
        <p:spPr>
          <a:xfrm>
            <a:off x="3337560" y="48920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Exercise recommendations</a:t>
            </a:r>
            <a:endParaRPr lang="en-US" sz="1000" dirty="0"/>
          </a:p>
        </p:txBody>
      </p:sp>
      <p:sp>
        <p:nvSpPr>
          <p:cNvPr id="21" name="Shape 19"/>
          <p:cNvSpPr/>
          <p:nvPr/>
        </p:nvSpPr>
        <p:spPr>
          <a:xfrm>
            <a:off x="548640" y="53492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22" name="Text 20"/>
          <p:cNvSpPr/>
          <p:nvPr/>
        </p:nvSpPr>
        <p:spPr>
          <a:xfrm>
            <a:off x="640080" y="53492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Follow-up / review date</a:t>
            </a:r>
            <a:endParaRPr lang="en-US" sz="1000" dirty="0"/>
          </a:p>
        </p:txBody>
      </p:sp>
      <p:sp>
        <p:nvSpPr>
          <p:cNvPr id="23" name="Shape 21"/>
          <p:cNvSpPr/>
          <p:nvPr/>
        </p:nvSpPr>
        <p:spPr>
          <a:xfrm>
            <a:off x="3246120" y="53492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24" name="Text 22"/>
          <p:cNvSpPr/>
          <p:nvPr/>
        </p:nvSpPr>
        <p:spPr>
          <a:xfrm>
            <a:off x="3337560" y="53492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Adherence</a:t>
            </a:r>
            <a:endParaRPr lang="en-US" sz="1000" dirty="0"/>
          </a:p>
        </p:txBody>
      </p:sp>
      <p:sp>
        <p:nvSpPr>
          <p:cNvPr id="25" name="Shape 23"/>
          <p:cNvSpPr/>
          <p:nvPr/>
        </p:nvSpPr>
        <p:spPr>
          <a:xfrm>
            <a:off x="548640" y="58064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26" name="Text 24"/>
          <p:cNvSpPr/>
          <p:nvPr/>
        </p:nvSpPr>
        <p:spPr>
          <a:xfrm>
            <a:off x="640080" y="58064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Doctor approval status</a:t>
            </a:r>
            <a:endParaRPr lang="en-US" sz="1000" dirty="0"/>
          </a:p>
        </p:txBody>
      </p:sp>
      <p:sp>
        <p:nvSpPr>
          <p:cNvPr id="27" name="Shape 25"/>
          <p:cNvSpPr/>
          <p:nvPr/>
        </p:nvSpPr>
        <p:spPr>
          <a:xfrm>
            <a:off x="3246120" y="5806440"/>
            <a:ext cx="2514600" cy="365760"/>
          </a:xfrm>
          <a:prstGeom prst="roundRect">
            <a:avLst>
              <a:gd name="adj" fmla="val 17500"/>
            </a:avLst>
          </a:prstGeom>
          <a:solidFill>
            <a:srgbClr val="FFFFFF"/>
          </a:solidFill>
          <a:ln w="12700">
            <a:solidFill>
              <a:srgbClr val="D8E7E5"/>
            </a:solidFill>
            <a:prstDash val="solid"/>
          </a:ln>
        </p:spPr>
        <p:txBody>
          <a:bodyPr/>
          <a:lstStyle/>
          <a:p>
            <a:endParaRPr lang="en-IN"/>
          </a:p>
        </p:txBody>
      </p:sp>
      <p:sp>
        <p:nvSpPr>
          <p:cNvPr id="28" name="Text 26"/>
          <p:cNvSpPr/>
          <p:nvPr/>
        </p:nvSpPr>
        <p:spPr>
          <a:xfrm>
            <a:off x="3337560" y="5806440"/>
            <a:ext cx="2331720" cy="365760"/>
          </a:xfrm>
          <a:prstGeom prst="rect">
            <a:avLst/>
          </a:prstGeom>
          <a:noFill/>
          <a:ln/>
        </p:spPr>
        <p:txBody>
          <a:bodyPr wrap="square" lIns="0" tIns="0" rIns="0" bIns="0" rtlCol="0" anchor="ctr"/>
          <a:lstStyle/>
          <a:p>
            <a:pPr marL="0" indent="0">
              <a:buNone/>
            </a:pPr>
            <a:r>
              <a:rPr lang="en-US" sz="1000" b="1" dirty="0">
                <a:solidFill>
                  <a:srgbClr val="16282C"/>
                </a:solidFill>
                <a:latin typeface="Calibri" pitchFamily="34" charset="0"/>
                <a:ea typeface="Calibri" pitchFamily="34" charset="-122"/>
                <a:cs typeface="Calibri" pitchFamily="34" charset="-120"/>
              </a:rPr>
              <a:t>Progress</a:t>
            </a:r>
            <a:endParaRPr lang="en-US" sz="1000" dirty="0"/>
          </a:p>
        </p:txBody>
      </p:sp>
      <p:sp>
        <p:nvSpPr>
          <p:cNvPr id="31" name="Shape 29"/>
          <p:cNvSpPr/>
          <p:nvPr/>
        </p:nvSpPr>
        <p:spPr>
          <a:xfrm>
            <a:off x="6263640" y="1737360"/>
            <a:ext cx="5394960" cy="4892040"/>
          </a:xfrm>
          <a:prstGeom prst="roundRect">
            <a:avLst>
              <a:gd name="adj" fmla="val 1869"/>
            </a:avLst>
          </a:prstGeom>
          <a:solidFill>
            <a:srgbClr val="EFF7F6"/>
          </a:solidFill>
          <a:ln/>
        </p:spPr>
        <p:txBody>
          <a:bodyPr/>
          <a:lstStyle/>
          <a:p>
            <a:endParaRPr lang="en-IN"/>
          </a:p>
        </p:txBody>
      </p:sp>
      <p:sp>
        <p:nvSpPr>
          <p:cNvPr id="32" name="Text 30"/>
          <p:cNvSpPr/>
          <p:nvPr/>
        </p:nvSpPr>
        <p:spPr>
          <a:xfrm>
            <a:off x="6492240" y="1874520"/>
            <a:ext cx="4937760" cy="274320"/>
          </a:xfrm>
          <a:prstGeom prst="rect">
            <a:avLst/>
          </a:prstGeom>
          <a:noFill/>
          <a:ln/>
        </p:spPr>
        <p:txBody>
          <a:bodyPr wrap="square" rtlCol="0" anchor="ctr"/>
          <a:lstStyle/>
          <a:p>
            <a:pPr marL="0" indent="0">
              <a:buNone/>
            </a:pPr>
            <a:r>
              <a:rPr lang="en-US" sz="1250" b="1" dirty="0">
                <a:solidFill>
                  <a:srgbClr val="5C7378"/>
                </a:solidFill>
                <a:latin typeface="Calibri" pitchFamily="34" charset="0"/>
                <a:ea typeface="Calibri" pitchFamily="34" charset="-122"/>
                <a:cs typeface="Calibri" pitchFamily="34" charset="-120"/>
              </a:rPr>
              <a:t>Care Plan Generation Flow</a:t>
            </a:r>
            <a:endParaRPr lang="en-US" sz="1250" dirty="0"/>
          </a:p>
        </p:txBody>
      </p:sp>
      <p:sp>
        <p:nvSpPr>
          <p:cNvPr id="33" name="Shape 31"/>
          <p:cNvSpPr/>
          <p:nvPr/>
        </p:nvSpPr>
        <p:spPr>
          <a:xfrm>
            <a:off x="6629400" y="2240280"/>
            <a:ext cx="4663440" cy="438912"/>
          </a:xfrm>
          <a:prstGeom prst="roundRect">
            <a:avLst>
              <a:gd name="adj" fmla="val 16667"/>
            </a:avLst>
          </a:prstGeom>
          <a:solidFill>
            <a:srgbClr val="028090"/>
          </a:solidFill>
          <a:ln/>
          <a:effectLst>
            <a:outerShdw blurRad="76200" dist="25400" dir="5400000" algn="bl" rotWithShape="0">
              <a:srgbClr val="1A1A1A">
                <a:alpha val="18000"/>
              </a:srgbClr>
            </a:outerShdw>
          </a:effectLst>
        </p:spPr>
        <p:txBody>
          <a:bodyPr/>
          <a:lstStyle/>
          <a:p>
            <a:endParaRPr lang="en-IN"/>
          </a:p>
        </p:txBody>
      </p:sp>
      <p:sp>
        <p:nvSpPr>
          <p:cNvPr id="34" name="Text 32"/>
          <p:cNvSpPr/>
          <p:nvPr/>
        </p:nvSpPr>
        <p:spPr>
          <a:xfrm>
            <a:off x="6766560" y="2240280"/>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Patient Data + ML Prediction + Risk Level</a:t>
            </a:r>
            <a:endParaRPr lang="en-US" sz="1050" dirty="0"/>
          </a:p>
        </p:txBody>
      </p:sp>
      <p:sp>
        <p:nvSpPr>
          <p:cNvPr id="35" name="Shape 33"/>
          <p:cNvSpPr/>
          <p:nvPr/>
        </p:nvSpPr>
        <p:spPr>
          <a:xfrm>
            <a:off x="8961120" y="2679192"/>
            <a:ext cx="0" cy="91440"/>
          </a:xfrm>
          <a:prstGeom prst="line">
            <a:avLst/>
          </a:prstGeom>
          <a:noFill/>
          <a:ln w="22225">
            <a:solidFill>
              <a:srgbClr val="5C7378"/>
            </a:solidFill>
            <a:prstDash val="solid"/>
            <a:tailEnd type="triangle"/>
          </a:ln>
        </p:spPr>
        <p:txBody>
          <a:bodyPr/>
          <a:lstStyle/>
          <a:p>
            <a:endParaRPr lang="en-IN"/>
          </a:p>
        </p:txBody>
      </p:sp>
      <p:sp>
        <p:nvSpPr>
          <p:cNvPr id="36" name="Shape 34"/>
          <p:cNvSpPr/>
          <p:nvPr/>
        </p:nvSpPr>
        <p:spPr>
          <a:xfrm>
            <a:off x="6629400" y="2770632"/>
            <a:ext cx="4663440" cy="438912"/>
          </a:xfrm>
          <a:prstGeom prst="roundRect">
            <a:avLst>
              <a:gd name="adj" fmla="val 16667"/>
            </a:avLst>
          </a:prstGeom>
          <a:solidFill>
            <a:srgbClr val="00A896"/>
          </a:solidFill>
          <a:ln/>
          <a:effectLst>
            <a:outerShdw blurRad="76200" dist="25400" dir="5400000" algn="bl" rotWithShape="0">
              <a:srgbClr val="1A1A1A">
                <a:alpha val="18000"/>
              </a:srgbClr>
            </a:outerShdw>
          </a:effectLst>
        </p:spPr>
        <p:txBody>
          <a:bodyPr/>
          <a:lstStyle/>
          <a:p>
            <a:endParaRPr lang="en-IN"/>
          </a:p>
        </p:txBody>
      </p:sp>
      <p:sp>
        <p:nvSpPr>
          <p:cNvPr id="37" name="Text 35"/>
          <p:cNvSpPr/>
          <p:nvPr/>
        </p:nvSpPr>
        <p:spPr>
          <a:xfrm>
            <a:off x="6766560" y="2770632"/>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 Care Plan Generator</a:t>
            </a:r>
            <a:endParaRPr lang="en-US" sz="1050" dirty="0"/>
          </a:p>
        </p:txBody>
      </p:sp>
      <p:sp>
        <p:nvSpPr>
          <p:cNvPr id="38" name="Shape 36"/>
          <p:cNvSpPr/>
          <p:nvPr/>
        </p:nvSpPr>
        <p:spPr>
          <a:xfrm>
            <a:off x="8961120" y="3209544"/>
            <a:ext cx="0" cy="91440"/>
          </a:xfrm>
          <a:prstGeom prst="line">
            <a:avLst/>
          </a:prstGeom>
          <a:noFill/>
          <a:ln w="22225">
            <a:solidFill>
              <a:srgbClr val="5C7378"/>
            </a:solidFill>
            <a:prstDash val="solid"/>
            <a:tailEnd type="triangle"/>
          </a:ln>
        </p:spPr>
        <p:txBody>
          <a:bodyPr/>
          <a:lstStyle/>
          <a:p>
            <a:endParaRPr lang="en-IN"/>
          </a:p>
        </p:txBody>
      </p:sp>
      <p:sp>
        <p:nvSpPr>
          <p:cNvPr id="39" name="Shape 37"/>
          <p:cNvSpPr/>
          <p:nvPr/>
        </p:nvSpPr>
        <p:spPr>
          <a:xfrm>
            <a:off x="6629400" y="3300984"/>
            <a:ext cx="4663440" cy="438912"/>
          </a:xfrm>
          <a:prstGeom prst="roundRect">
            <a:avLst>
              <a:gd name="adj" fmla="val 16667"/>
            </a:avLst>
          </a:prstGeom>
          <a:solidFill>
            <a:srgbClr val="02C39A"/>
          </a:solidFill>
          <a:ln/>
          <a:effectLst>
            <a:outerShdw blurRad="76200" dist="25400" dir="5400000" algn="bl" rotWithShape="0">
              <a:srgbClr val="1A1A1A">
                <a:alpha val="18000"/>
              </a:srgbClr>
            </a:outerShdw>
          </a:effectLst>
        </p:spPr>
        <p:txBody>
          <a:bodyPr/>
          <a:lstStyle/>
          <a:p>
            <a:endParaRPr lang="en-IN"/>
          </a:p>
        </p:txBody>
      </p:sp>
      <p:sp>
        <p:nvSpPr>
          <p:cNvPr id="40" name="Text 38"/>
          <p:cNvSpPr/>
          <p:nvPr/>
        </p:nvSpPr>
        <p:spPr>
          <a:xfrm>
            <a:off x="6766560" y="3300984"/>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Personalized Care Plan</a:t>
            </a:r>
            <a:endParaRPr lang="en-US" sz="1050" dirty="0"/>
          </a:p>
        </p:txBody>
      </p:sp>
      <p:sp>
        <p:nvSpPr>
          <p:cNvPr id="41" name="Shape 39"/>
          <p:cNvSpPr/>
          <p:nvPr/>
        </p:nvSpPr>
        <p:spPr>
          <a:xfrm>
            <a:off x="8961120" y="3739896"/>
            <a:ext cx="0" cy="91440"/>
          </a:xfrm>
          <a:prstGeom prst="line">
            <a:avLst/>
          </a:prstGeom>
          <a:noFill/>
          <a:ln w="22225">
            <a:solidFill>
              <a:srgbClr val="5C7378"/>
            </a:solidFill>
            <a:prstDash val="solid"/>
            <a:tailEnd type="triangle"/>
          </a:ln>
        </p:spPr>
        <p:txBody>
          <a:bodyPr/>
          <a:lstStyle/>
          <a:p>
            <a:endParaRPr lang="en-IN"/>
          </a:p>
        </p:txBody>
      </p:sp>
      <p:sp>
        <p:nvSpPr>
          <p:cNvPr id="42" name="Shape 40"/>
          <p:cNvSpPr/>
          <p:nvPr/>
        </p:nvSpPr>
        <p:spPr>
          <a:xfrm>
            <a:off x="6629400" y="3831336"/>
            <a:ext cx="4663440" cy="438912"/>
          </a:xfrm>
          <a:prstGeom prst="roundRect">
            <a:avLst>
              <a:gd name="adj" fmla="val 16667"/>
            </a:avLst>
          </a:prstGeom>
          <a:solidFill>
            <a:srgbClr val="028090"/>
          </a:solidFill>
          <a:ln/>
          <a:effectLst>
            <a:outerShdw blurRad="76200" dist="25400" dir="5400000" algn="bl" rotWithShape="0">
              <a:srgbClr val="1A1A1A">
                <a:alpha val="18000"/>
              </a:srgbClr>
            </a:outerShdw>
          </a:effectLst>
        </p:spPr>
        <p:txBody>
          <a:bodyPr/>
          <a:lstStyle/>
          <a:p>
            <a:endParaRPr lang="en-IN"/>
          </a:p>
        </p:txBody>
      </p:sp>
      <p:sp>
        <p:nvSpPr>
          <p:cNvPr id="43" name="Text 41"/>
          <p:cNvSpPr/>
          <p:nvPr/>
        </p:nvSpPr>
        <p:spPr>
          <a:xfrm>
            <a:off x="6766560" y="3831336"/>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Doctor Review</a:t>
            </a:r>
            <a:endParaRPr lang="en-US" sz="1050" dirty="0"/>
          </a:p>
        </p:txBody>
      </p:sp>
      <p:sp>
        <p:nvSpPr>
          <p:cNvPr id="44" name="Shape 42"/>
          <p:cNvSpPr/>
          <p:nvPr/>
        </p:nvSpPr>
        <p:spPr>
          <a:xfrm>
            <a:off x="8961120" y="4270248"/>
            <a:ext cx="0" cy="91440"/>
          </a:xfrm>
          <a:prstGeom prst="line">
            <a:avLst/>
          </a:prstGeom>
          <a:noFill/>
          <a:ln w="22225">
            <a:solidFill>
              <a:srgbClr val="5C7378"/>
            </a:solidFill>
            <a:prstDash val="solid"/>
            <a:tailEnd type="triangle"/>
          </a:ln>
        </p:spPr>
        <p:txBody>
          <a:bodyPr/>
          <a:lstStyle/>
          <a:p>
            <a:endParaRPr lang="en-IN"/>
          </a:p>
        </p:txBody>
      </p:sp>
      <p:sp>
        <p:nvSpPr>
          <p:cNvPr id="45" name="Shape 43"/>
          <p:cNvSpPr/>
          <p:nvPr/>
        </p:nvSpPr>
        <p:spPr>
          <a:xfrm>
            <a:off x="6629400" y="4361688"/>
            <a:ext cx="4663440" cy="438912"/>
          </a:xfrm>
          <a:prstGeom prst="roundRect">
            <a:avLst>
              <a:gd name="adj" fmla="val 16667"/>
            </a:avLst>
          </a:prstGeom>
          <a:solidFill>
            <a:srgbClr val="00A896"/>
          </a:solidFill>
          <a:ln/>
          <a:effectLst>
            <a:outerShdw blurRad="76200" dist="25400" dir="5400000" algn="bl" rotWithShape="0">
              <a:srgbClr val="1A1A1A">
                <a:alpha val="18000"/>
              </a:srgbClr>
            </a:outerShdw>
          </a:effectLst>
        </p:spPr>
        <p:txBody>
          <a:bodyPr/>
          <a:lstStyle/>
          <a:p>
            <a:endParaRPr lang="en-IN"/>
          </a:p>
        </p:txBody>
      </p:sp>
      <p:sp>
        <p:nvSpPr>
          <p:cNvPr id="46" name="Text 44"/>
          <p:cNvSpPr/>
          <p:nvPr/>
        </p:nvSpPr>
        <p:spPr>
          <a:xfrm>
            <a:off x="6766560" y="4361688"/>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Patient</a:t>
            </a:r>
            <a:endParaRPr lang="en-US" sz="1050" dirty="0"/>
          </a:p>
        </p:txBody>
      </p:sp>
      <p:sp>
        <p:nvSpPr>
          <p:cNvPr id="47" name="Shape 45"/>
          <p:cNvSpPr/>
          <p:nvPr/>
        </p:nvSpPr>
        <p:spPr>
          <a:xfrm>
            <a:off x="8961120" y="4800600"/>
            <a:ext cx="0" cy="91440"/>
          </a:xfrm>
          <a:prstGeom prst="line">
            <a:avLst/>
          </a:prstGeom>
          <a:noFill/>
          <a:ln w="22225">
            <a:solidFill>
              <a:srgbClr val="5C7378"/>
            </a:solidFill>
            <a:prstDash val="solid"/>
            <a:tailEnd type="triangle"/>
          </a:ln>
        </p:spPr>
        <p:txBody>
          <a:bodyPr/>
          <a:lstStyle/>
          <a:p>
            <a:endParaRPr lang="en-IN"/>
          </a:p>
        </p:txBody>
      </p:sp>
      <p:sp>
        <p:nvSpPr>
          <p:cNvPr id="48" name="Shape 46"/>
          <p:cNvSpPr/>
          <p:nvPr/>
        </p:nvSpPr>
        <p:spPr>
          <a:xfrm>
            <a:off x="6629400" y="4892040"/>
            <a:ext cx="4663440" cy="438912"/>
          </a:xfrm>
          <a:prstGeom prst="roundRect">
            <a:avLst>
              <a:gd name="adj" fmla="val 16667"/>
            </a:avLst>
          </a:prstGeom>
          <a:solidFill>
            <a:srgbClr val="02C39A"/>
          </a:solidFill>
          <a:ln/>
          <a:effectLst>
            <a:outerShdw blurRad="76200" dist="25400" dir="5400000" algn="bl" rotWithShape="0">
              <a:srgbClr val="1A1A1A">
                <a:alpha val="18000"/>
              </a:srgbClr>
            </a:outerShdw>
          </a:effectLst>
        </p:spPr>
        <p:txBody>
          <a:bodyPr/>
          <a:lstStyle/>
          <a:p>
            <a:endParaRPr lang="en-IN"/>
          </a:p>
        </p:txBody>
      </p:sp>
      <p:sp>
        <p:nvSpPr>
          <p:cNvPr id="49" name="Text 47"/>
          <p:cNvSpPr/>
          <p:nvPr/>
        </p:nvSpPr>
        <p:spPr>
          <a:xfrm>
            <a:off x="6766560" y="4892040"/>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Adherence Tracking</a:t>
            </a:r>
            <a:endParaRPr lang="en-US" sz="1050" dirty="0"/>
          </a:p>
        </p:txBody>
      </p:sp>
      <p:sp>
        <p:nvSpPr>
          <p:cNvPr id="50" name="Shape 48"/>
          <p:cNvSpPr/>
          <p:nvPr/>
        </p:nvSpPr>
        <p:spPr>
          <a:xfrm>
            <a:off x="8961120" y="5330952"/>
            <a:ext cx="0" cy="91440"/>
          </a:xfrm>
          <a:prstGeom prst="line">
            <a:avLst/>
          </a:prstGeom>
          <a:noFill/>
          <a:ln w="22225">
            <a:solidFill>
              <a:srgbClr val="5C7378"/>
            </a:solidFill>
            <a:prstDash val="solid"/>
            <a:tailEnd type="triangle"/>
          </a:ln>
        </p:spPr>
        <p:txBody>
          <a:bodyPr/>
          <a:lstStyle/>
          <a:p>
            <a:endParaRPr lang="en-IN"/>
          </a:p>
        </p:txBody>
      </p:sp>
      <p:sp>
        <p:nvSpPr>
          <p:cNvPr id="51" name="Shape 49"/>
          <p:cNvSpPr/>
          <p:nvPr/>
        </p:nvSpPr>
        <p:spPr>
          <a:xfrm>
            <a:off x="6629400" y="5422392"/>
            <a:ext cx="4663440" cy="438912"/>
          </a:xfrm>
          <a:prstGeom prst="roundRect">
            <a:avLst>
              <a:gd name="adj" fmla="val 16667"/>
            </a:avLst>
          </a:prstGeom>
          <a:solidFill>
            <a:srgbClr val="01353D"/>
          </a:solidFill>
          <a:ln/>
          <a:effectLst>
            <a:outerShdw blurRad="76200" dist="25400" dir="5400000" algn="bl" rotWithShape="0">
              <a:srgbClr val="1A1A1A">
                <a:alpha val="18000"/>
              </a:srgbClr>
            </a:outerShdw>
          </a:effectLst>
        </p:spPr>
        <p:txBody>
          <a:bodyPr/>
          <a:lstStyle/>
          <a:p>
            <a:endParaRPr lang="en-IN"/>
          </a:p>
        </p:txBody>
      </p:sp>
      <p:sp>
        <p:nvSpPr>
          <p:cNvPr id="52" name="Text 50"/>
          <p:cNvSpPr/>
          <p:nvPr/>
        </p:nvSpPr>
        <p:spPr>
          <a:xfrm>
            <a:off x="6766560" y="5422392"/>
            <a:ext cx="4389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Progress Update</a:t>
            </a:r>
            <a:endParaRPr lang="en-US" sz="1050" dirty="0"/>
          </a:p>
        </p:txBody>
      </p:sp>
      <p:sp>
        <p:nvSpPr>
          <p:cNvPr id="53" name="Text 5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MILESTONE 4 · CONTINUED</a:t>
            </a:r>
            <a:endParaRPr lang="en-US" sz="1200" dirty="0"/>
          </a:p>
        </p:txBody>
      </p:sp>
      <p:sp>
        <p:nvSpPr>
          <p:cNvPr id="3" name="Text 1"/>
          <p:cNvSpPr/>
          <p:nvPr/>
        </p:nvSpPr>
        <p:spPr>
          <a:xfrm>
            <a:off x="548640" y="658368"/>
            <a:ext cx="10607040" cy="685800"/>
          </a:xfrm>
          <a:prstGeom prst="rect">
            <a:avLst/>
          </a:prstGeom>
          <a:noFill/>
          <a:ln/>
        </p:spPr>
        <p:txBody>
          <a:bodyPr wrap="square" rtlCol="0" anchor="ctr"/>
          <a:lstStyle/>
          <a:p>
            <a:pPr marL="0" indent="0" algn="l">
              <a:buNone/>
            </a:pPr>
            <a:endParaRPr lang="en-US" sz="3200" dirty="0"/>
          </a:p>
        </p:txBody>
      </p:sp>
      <p:sp>
        <p:nvSpPr>
          <p:cNvPr id="5" name="Text 3"/>
          <p:cNvSpPr/>
          <p:nvPr/>
        </p:nvSpPr>
        <p:spPr>
          <a:xfrm>
            <a:off x="777240" y="1554480"/>
            <a:ext cx="4937760" cy="274320"/>
          </a:xfrm>
          <a:prstGeom prst="rect">
            <a:avLst/>
          </a:prstGeom>
          <a:noFill/>
          <a:ln/>
        </p:spPr>
        <p:txBody>
          <a:bodyPr wrap="square" rtlCol="0" anchor="ctr"/>
          <a:lstStyle/>
          <a:p>
            <a:pPr marL="0" indent="0">
              <a:buNone/>
            </a:pPr>
            <a:endParaRPr lang="en-US" sz="1250" dirty="0"/>
          </a:p>
        </p:txBody>
      </p:sp>
      <p:sp>
        <p:nvSpPr>
          <p:cNvPr id="7" name="Text 5"/>
          <p:cNvSpPr/>
          <p:nvPr/>
        </p:nvSpPr>
        <p:spPr>
          <a:xfrm>
            <a:off x="1097280" y="190195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React Frontend</a:t>
            </a:r>
            <a:endParaRPr lang="en-US" sz="1000" dirty="0"/>
          </a:p>
        </p:txBody>
      </p:sp>
      <p:sp>
        <p:nvSpPr>
          <p:cNvPr id="10" name="Text 8"/>
          <p:cNvSpPr/>
          <p:nvPr/>
        </p:nvSpPr>
        <p:spPr>
          <a:xfrm>
            <a:off x="1097280" y="229057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CarePlan Controller</a:t>
            </a:r>
            <a:endParaRPr lang="en-US" sz="1000" dirty="0"/>
          </a:p>
        </p:txBody>
      </p:sp>
      <p:sp>
        <p:nvSpPr>
          <p:cNvPr id="13" name="Text 11"/>
          <p:cNvSpPr/>
          <p:nvPr/>
        </p:nvSpPr>
        <p:spPr>
          <a:xfrm>
            <a:off x="1097280" y="267919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CarePlan Service</a:t>
            </a:r>
            <a:endParaRPr lang="en-US" sz="1000" dirty="0"/>
          </a:p>
        </p:txBody>
      </p:sp>
      <p:sp>
        <p:nvSpPr>
          <p:cNvPr id="16" name="Text 14"/>
          <p:cNvSpPr/>
          <p:nvPr/>
        </p:nvSpPr>
        <p:spPr>
          <a:xfrm>
            <a:off x="1097280" y="306781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Prediction / Patient Data</a:t>
            </a:r>
            <a:endParaRPr lang="en-US" sz="1000" dirty="0"/>
          </a:p>
        </p:txBody>
      </p:sp>
      <p:sp>
        <p:nvSpPr>
          <p:cNvPr id="19" name="Text 17"/>
          <p:cNvSpPr/>
          <p:nvPr/>
        </p:nvSpPr>
        <p:spPr>
          <a:xfrm>
            <a:off x="1097280" y="3456432"/>
            <a:ext cx="4297680" cy="329184"/>
          </a:xfrm>
          <a:prstGeom prst="rect">
            <a:avLst/>
          </a:prstGeom>
          <a:noFill/>
          <a:ln/>
        </p:spPr>
        <p:txBody>
          <a:bodyPr wrap="square" rtlCol="0" anchor="ctr"/>
          <a:lstStyle/>
          <a:p>
            <a:pPr marL="0" indent="0" algn="ctr">
              <a:buNone/>
            </a:pPr>
            <a:r>
              <a:rPr lang="en-US" sz="1000" b="1" dirty="0" err="1">
                <a:solidFill>
                  <a:srgbClr val="FFFFFF"/>
                </a:solidFill>
                <a:latin typeface="Calibri" pitchFamily="34" charset="0"/>
                <a:ea typeface="Calibri" pitchFamily="34" charset="-122"/>
                <a:cs typeface="Calibri" pitchFamily="34" charset="-120"/>
              </a:rPr>
              <a:t>Groq</a:t>
            </a:r>
            <a:endParaRPr lang="en-US" sz="1000" dirty="0"/>
          </a:p>
        </p:txBody>
      </p:sp>
      <p:sp>
        <p:nvSpPr>
          <p:cNvPr id="22" name="Text 20"/>
          <p:cNvSpPr/>
          <p:nvPr/>
        </p:nvSpPr>
        <p:spPr>
          <a:xfrm>
            <a:off x="1097280" y="384505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Qwen 2.5 3B</a:t>
            </a:r>
            <a:endParaRPr lang="en-US" sz="1000" dirty="0"/>
          </a:p>
        </p:txBody>
      </p:sp>
      <p:sp>
        <p:nvSpPr>
          <p:cNvPr id="25" name="Text 23"/>
          <p:cNvSpPr/>
          <p:nvPr/>
        </p:nvSpPr>
        <p:spPr>
          <a:xfrm>
            <a:off x="1097280" y="423367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Generated Recommendations</a:t>
            </a:r>
            <a:endParaRPr lang="en-US" sz="1000" dirty="0"/>
          </a:p>
        </p:txBody>
      </p:sp>
      <p:sp>
        <p:nvSpPr>
          <p:cNvPr id="28" name="Text 26"/>
          <p:cNvSpPr/>
          <p:nvPr/>
        </p:nvSpPr>
        <p:spPr>
          <a:xfrm>
            <a:off x="1097280" y="462229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CarePlan stored in MongoDB</a:t>
            </a:r>
            <a:endParaRPr lang="en-US" sz="1000" dirty="0"/>
          </a:p>
        </p:txBody>
      </p:sp>
      <p:sp>
        <p:nvSpPr>
          <p:cNvPr id="31" name="Text 29"/>
          <p:cNvSpPr/>
          <p:nvPr/>
        </p:nvSpPr>
        <p:spPr>
          <a:xfrm>
            <a:off x="1097280" y="5010912"/>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Doctor Approval</a:t>
            </a:r>
            <a:endParaRPr lang="en-US" sz="1000" dirty="0"/>
          </a:p>
        </p:txBody>
      </p:sp>
      <p:sp>
        <p:nvSpPr>
          <p:cNvPr id="34" name="Text 32"/>
          <p:cNvSpPr/>
          <p:nvPr/>
        </p:nvSpPr>
        <p:spPr>
          <a:xfrm>
            <a:off x="-395618" y="1677924"/>
            <a:ext cx="429768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Patient Dashboard</a:t>
            </a:r>
            <a:endParaRPr lang="en-US" sz="1000" dirty="0"/>
          </a:p>
        </p:txBody>
      </p:sp>
      <p:sp>
        <p:nvSpPr>
          <p:cNvPr id="35" name="Text 33"/>
          <p:cNvSpPr/>
          <p:nvPr/>
        </p:nvSpPr>
        <p:spPr>
          <a:xfrm>
            <a:off x="6263640" y="1417320"/>
            <a:ext cx="5394960" cy="320040"/>
          </a:xfrm>
          <a:prstGeom prst="rect">
            <a:avLst/>
          </a:prstGeom>
          <a:noFill/>
          <a:ln/>
        </p:spPr>
        <p:txBody>
          <a:bodyPr wrap="square" rtlCol="0" anchor="ctr"/>
          <a:lstStyle/>
          <a:p>
            <a:pPr marL="0" indent="0">
              <a:buNone/>
            </a:pPr>
            <a:endParaRPr lang="en-US" sz="1350" dirty="0"/>
          </a:p>
        </p:txBody>
      </p:sp>
      <p:sp>
        <p:nvSpPr>
          <p:cNvPr id="38" name="Text 36"/>
          <p:cNvSpPr/>
          <p:nvPr/>
        </p:nvSpPr>
        <p:spPr>
          <a:xfrm>
            <a:off x="6400800" y="1947672"/>
            <a:ext cx="65836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POST</a:t>
            </a:r>
            <a:endParaRPr lang="en-US" sz="1050" dirty="0"/>
          </a:p>
        </p:txBody>
      </p:sp>
      <p:sp>
        <p:nvSpPr>
          <p:cNvPr id="43" name="Text 41"/>
          <p:cNvSpPr/>
          <p:nvPr/>
        </p:nvSpPr>
        <p:spPr>
          <a:xfrm>
            <a:off x="6400800" y="2916936"/>
            <a:ext cx="65836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GET</a:t>
            </a:r>
            <a:endParaRPr lang="en-US" sz="1050" dirty="0"/>
          </a:p>
        </p:txBody>
      </p:sp>
      <p:sp>
        <p:nvSpPr>
          <p:cNvPr id="48" name="Text 46"/>
          <p:cNvSpPr/>
          <p:nvPr/>
        </p:nvSpPr>
        <p:spPr>
          <a:xfrm>
            <a:off x="6400800" y="3886200"/>
            <a:ext cx="65836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PUT</a:t>
            </a:r>
            <a:endParaRPr lang="en-US" sz="1050" dirty="0"/>
          </a:p>
        </p:txBody>
      </p:sp>
      <p:sp>
        <p:nvSpPr>
          <p:cNvPr id="53" name="Text 51"/>
          <p:cNvSpPr/>
          <p:nvPr/>
        </p:nvSpPr>
        <p:spPr>
          <a:xfrm>
            <a:off x="6400800" y="4855464"/>
            <a:ext cx="65836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PUT</a:t>
            </a:r>
            <a:endParaRPr lang="en-US" sz="1050" dirty="0"/>
          </a:p>
        </p:txBody>
      </p:sp>
      <p:sp>
        <p:nvSpPr>
          <p:cNvPr id="58" name="Text 56"/>
          <p:cNvSpPr/>
          <p:nvPr/>
        </p:nvSpPr>
        <p:spPr>
          <a:xfrm>
            <a:off x="6400800" y="5824728"/>
            <a:ext cx="65836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GET</a:t>
            </a:r>
            <a:endParaRPr lang="en-US" sz="1050" dirty="0"/>
          </a:p>
        </p:txBody>
      </p:sp>
      <p:sp>
        <p:nvSpPr>
          <p:cNvPr id="61" name="Text 5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10</a:t>
            </a:r>
            <a:endParaRPr lang="en-US" sz="1000" dirty="0"/>
          </a:p>
        </p:txBody>
      </p:sp>
      <p:pic>
        <p:nvPicPr>
          <p:cNvPr id="63" name="Picture 62">
            <a:extLst>
              <a:ext uri="{FF2B5EF4-FFF2-40B4-BE49-F238E27FC236}">
                <a16:creationId xmlns:a16="http://schemas.microsoft.com/office/drawing/2014/main" id="{B9502C80-0D8E-C363-675E-94D7C53EB251}"/>
              </a:ext>
            </a:extLst>
          </p:cNvPr>
          <p:cNvPicPr>
            <a:picLocks noChangeAspect="1"/>
          </p:cNvPicPr>
          <p:nvPr/>
        </p:nvPicPr>
        <p:blipFill>
          <a:blip r:embed="rId3"/>
          <a:stretch>
            <a:fillRect/>
          </a:stretch>
        </p:blipFill>
        <p:spPr>
          <a:xfrm>
            <a:off x="653143" y="740664"/>
            <a:ext cx="10800432" cy="59344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658368"/>
            <a:ext cx="10607040" cy="685800"/>
          </a:xfrm>
          <a:prstGeom prst="rect">
            <a:avLst/>
          </a:prstGeom>
          <a:noFill/>
          <a:ln/>
        </p:spPr>
        <p:txBody>
          <a:bodyPr wrap="square" rtlCol="0" anchor="ctr"/>
          <a:lstStyle/>
          <a:p>
            <a:pPr marL="0" indent="0" algn="l">
              <a:buNone/>
            </a:pPr>
            <a:r>
              <a:rPr lang="en-US" sz="3200" b="1" dirty="0">
                <a:solidFill>
                  <a:srgbClr val="16282C"/>
                </a:solidFill>
                <a:latin typeface="Cambria" pitchFamily="34" charset="0"/>
                <a:ea typeface="Cambria" pitchFamily="34" charset="-122"/>
                <a:cs typeface="Cambria" pitchFamily="34" charset="-120"/>
              </a:rPr>
              <a:t>Achievements, Future Scope &amp; Conclusion</a:t>
            </a:r>
            <a:endParaRPr lang="en-US" sz="3200" dirty="0"/>
          </a:p>
        </p:txBody>
      </p:sp>
      <p:sp>
        <p:nvSpPr>
          <p:cNvPr id="4" name="Shape 2"/>
          <p:cNvSpPr/>
          <p:nvPr/>
        </p:nvSpPr>
        <p:spPr>
          <a:xfrm>
            <a:off x="548640" y="1251608"/>
            <a:ext cx="5394960" cy="3794760"/>
          </a:xfrm>
          <a:prstGeom prst="roundRect">
            <a:avLst>
              <a:gd name="adj" fmla="val 2410"/>
            </a:avLst>
          </a:prstGeom>
          <a:solidFill>
            <a:srgbClr val="EFF7F6"/>
          </a:solidFill>
          <a:ln/>
        </p:spPr>
        <p:txBody>
          <a:bodyPr/>
          <a:lstStyle/>
          <a:p>
            <a:endParaRPr lang="en-IN"/>
          </a:p>
        </p:txBody>
      </p:sp>
      <p:sp>
        <p:nvSpPr>
          <p:cNvPr id="5" name="Text 3"/>
          <p:cNvSpPr/>
          <p:nvPr/>
        </p:nvSpPr>
        <p:spPr>
          <a:xfrm>
            <a:off x="777240" y="1536192"/>
            <a:ext cx="4937760" cy="320040"/>
          </a:xfrm>
          <a:prstGeom prst="rect">
            <a:avLst/>
          </a:prstGeom>
          <a:noFill/>
          <a:ln/>
        </p:spPr>
        <p:txBody>
          <a:bodyPr wrap="square"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Achievements</a:t>
            </a:r>
            <a:endParaRPr lang="en-US" sz="1600" dirty="0"/>
          </a:p>
        </p:txBody>
      </p:sp>
      <p:sp>
        <p:nvSpPr>
          <p:cNvPr id="6" name="Shape 4"/>
          <p:cNvSpPr/>
          <p:nvPr/>
        </p:nvSpPr>
        <p:spPr>
          <a:xfrm>
            <a:off x="804672" y="1993392"/>
            <a:ext cx="100584" cy="100584"/>
          </a:xfrm>
          <a:prstGeom prst="ellipse">
            <a:avLst/>
          </a:prstGeom>
          <a:solidFill>
            <a:srgbClr val="02C39A"/>
          </a:solidFill>
          <a:ln/>
        </p:spPr>
        <p:txBody>
          <a:bodyPr/>
          <a:lstStyle/>
          <a:p>
            <a:endParaRPr lang="en-IN"/>
          </a:p>
        </p:txBody>
      </p:sp>
      <p:sp>
        <p:nvSpPr>
          <p:cNvPr id="7" name="Text 5"/>
          <p:cNvSpPr/>
          <p:nvPr/>
        </p:nvSpPr>
        <p:spPr>
          <a:xfrm>
            <a:off x="1005840" y="1938528"/>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Microservices-based healthcare platform</a:t>
            </a:r>
            <a:endParaRPr lang="en-US" sz="1100" dirty="0"/>
          </a:p>
        </p:txBody>
      </p:sp>
      <p:sp>
        <p:nvSpPr>
          <p:cNvPr id="8" name="Shape 6"/>
          <p:cNvSpPr/>
          <p:nvPr/>
        </p:nvSpPr>
        <p:spPr>
          <a:xfrm>
            <a:off x="804672" y="2281428"/>
            <a:ext cx="100584" cy="100584"/>
          </a:xfrm>
          <a:prstGeom prst="ellipse">
            <a:avLst/>
          </a:prstGeom>
          <a:solidFill>
            <a:srgbClr val="02C39A"/>
          </a:solidFill>
          <a:ln/>
        </p:spPr>
        <p:txBody>
          <a:bodyPr/>
          <a:lstStyle/>
          <a:p>
            <a:endParaRPr lang="en-IN"/>
          </a:p>
        </p:txBody>
      </p:sp>
      <p:sp>
        <p:nvSpPr>
          <p:cNvPr id="9" name="Text 7"/>
          <p:cNvSpPr/>
          <p:nvPr/>
        </p:nvSpPr>
        <p:spPr>
          <a:xfrm>
            <a:off x="1005840" y="2226564"/>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Digital Health Twin architecture</a:t>
            </a:r>
            <a:endParaRPr lang="en-US" sz="1100" dirty="0"/>
          </a:p>
        </p:txBody>
      </p:sp>
      <p:sp>
        <p:nvSpPr>
          <p:cNvPr id="11" name="Text 9"/>
          <p:cNvSpPr/>
          <p:nvPr/>
        </p:nvSpPr>
        <p:spPr>
          <a:xfrm>
            <a:off x="1005840" y="2514600"/>
            <a:ext cx="4709160" cy="292608"/>
          </a:xfrm>
          <a:prstGeom prst="rect">
            <a:avLst/>
          </a:prstGeom>
          <a:noFill/>
          <a:ln/>
        </p:spPr>
        <p:txBody>
          <a:bodyPr wrap="square" lIns="0" tIns="0" rIns="0" bIns="0" rtlCol="0" anchor="t"/>
          <a:lstStyle/>
          <a:p>
            <a:pPr marL="0" indent="0">
              <a:buNone/>
            </a:pPr>
            <a:endParaRPr lang="en-US" sz="1100" dirty="0"/>
          </a:p>
        </p:txBody>
      </p:sp>
      <p:sp>
        <p:nvSpPr>
          <p:cNvPr id="12" name="Shape 10"/>
          <p:cNvSpPr/>
          <p:nvPr/>
        </p:nvSpPr>
        <p:spPr>
          <a:xfrm>
            <a:off x="804672" y="2857500"/>
            <a:ext cx="100584" cy="100584"/>
          </a:xfrm>
          <a:prstGeom prst="ellipse">
            <a:avLst/>
          </a:prstGeom>
          <a:solidFill>
            <a:srgbClr val="02C39A"/>
          </a:solidFill>
          <a:ln/>
        </p:spPr>
        <p:txBody>
          <a:bodyPr/>
          <a:lstStyle/>
          <a:p>
            <a:endParaRPr lang="en-IN"/>
          </a:p>
        </p:txBody>
      </p:sp>
      <p:sp>
        <p:nvSpPr>
          <p:cNvPr id="13" name="Text 11"/>
          <p:cNvSpPr/>
          <p:nvPr/>
        </p:nvSpPr>
        <p:spPr>
          <a:xfrm>
            <a:off x="1005840" y="2802636"/>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Kafka-based streaming</a:t>
            </a:r>
            <a:endParaRPr lang="en-US" sz="1100" dirty="0"/>
          </a:p>
        </p:txBody>
      </p:sp>
      <p:sp>
        <p:nvSpPr>
          <p:cNvPr id="14" name="Shape 12"/>
          <p:cNvSpPr/>
          <p:nvPr/>
        </p:nvSpPr>
        <p:spPr>
          <a:xfrm>
            <a:off x="804672" y="3145536"/>
            <a:ext cx="100584" cy="100584"/>
          </a:xfrm>
          <a:prstGeom prst="ellipse">
            <a:avLst/>
          </a:prstGeom>
          <a:solidFill>
            <a:srgbClr val="02C39A"/>
          </a:solidFill>
          <a:ln/>
        </p:spPr>
        <p:txBody>
          <a:bodyPr/>
          <a:lstStyle/>
          <a:p>
            <a:endParaRPr lang="en-IN"/>
          </a:p>
        </p:txBody>
      </p:sp>
      <p:sp>
        <p:nvSpPr>
          <p:cNvPr id="15" name="Text 13"/>
          <p:cNvSpPr/>
          <p:nvPr/>
        </p:nvSpPr>
        <p:spPr>
          <a:xfrm>
            <a:off x="1005840" y="3090672"/>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Diabetes &amp; heart disease prediction models</a:t>
            </a:r>
            <a:endParaRPr lang="en-US" sz="1100" dirty="0"/>
          </a:p>
        </p:txBody>
      </p:sp>
      <p:sp>
        <p:nvSpPr>
          <p:cNvPr id="16" name="Shape 14"/>
          <p:cNvSpPr/>
          <p:nvPr/>
        </p:nvSpPr>
        <p:spPr>
          <a:xfrm>
            <a:off x="804672" y="3433572"/>
            <a:ext cx="100584" cy="100584"/>
          </a:xfrm>
          <a:prstGeom prst="ellipse">
            <a:avLst/>
          </a:prstGeom>
          <a:solidFill>
            <a:srgbClr val="02C39A"/>
          </a:solidFill>
          <a:ln/>
        </p:spPr>
        <p:txBody>
          <a:bodyPr/>
          <a:lstStyle/>
          <a:p>
            <a:endParaRPr lang="en-IN"/>
          </a:p>
        </p:txBody>
      </p:sp>
      <p:sp>
        <p:nvSpPr>
          <p:cNvPr id="17" name="Text 15"/>
          <p:cNvSpPr/>
          <p:nvPr/>
        </p:nvSpPr>
        <p:spPr>
          <a:xfrm>
            <a:off x="1005840" y="3378708"/>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Explainable AI using SHAP</a:t>
            </a:r>
            <a:endParaRPr lang="en-US" sz="1100" dirty="0"/>
          </a:p>
        </p:txBody>
      </p:sp>
      <p:sp>
        <p:nvSpPr>
          <p:cNvPr id="18" name="Shape 16"/>
          <p:cNvSpPr/>
          <p:nvPr/>
        </p:nvSpPr>
        <p:spPr>
          <a:xfrm>
            <a:off x="804672" y="3721608"/>
            <a:ext cx="100584" cy="100584"/>
          </a:xfrm>
          <a:prstGeom prst="ellipse">
            <a:avLst/>
          </a:prstGeom>
          <a:solidFill>
            <a:srgbClr val="02C39A"/>
          </a:solidFill>
          <a:ln/>
        </p:spPr>
        <p:txBody>
          <a:bodyPr/>
          <a:lstStyle/>
          <a:p>
            <a:endParaRPr lang="en-IN"/>
          </a:p>
        </p:txBody>
      </p:sp>
      <p:sp>
        <p:nvSpPr>
          <p:cNvPr id="19" name="Text 17"/>
          <p:cNvSpPr/>
          <p:nvPr/>
        </p:nvSpPr>
        <p:spPr>
          <a:xfrm>
            <a:off x="1005840" y="3666744"/>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Model management module</a:t>
            </a:r>
            <a:endParaRPr lang="en-US" sz="1100" dirty="0"/>
          </a:p>
        </p:txBody>
      </p:sp>
      <p:sp>
        <p:nvSpPr>
          <p:cNvPr id="20" name="Shape 18"/>
          <p:cNvSpPr/>
          <p:nvPr/>
        </p:nvSpPr>
        <p:spPr>
          <a:xfrm>
            <a:off x="804672" y="4009644"/>
            <a:ext cx="100584" cy="100584"/>
          </a:xfrm>
          <a:prstGeom prst="ellipse">
            <a:avLst/>
          </a:prstGeom>
          <a:solidFill>
            <a:srgbClr val="02C39A"/>
          </a:solidFill>
          <a:ln/>
        </p:spPr>
        <p:txBody>
          <a:bodyPr/>
          <a:lstStyle/>
          <a:p>
            <a:endParaRPr lang="en-IN"/>
          </a:p>
        </p:txBody>
      </p:sp>
      <p:sp>
        <p:nvSpPr>
          <p:cNvPr id="21" name="Text 19"/>
          <p:cNvSpPr/>
          <p:nvPr/>
        </p:nvSpPr>
        <p:spPr>
          <a:xfrm>
            <a:off x="1005840" y="3954780"/>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Continuous monitoring &amp; alerts</a:t>
            </a:r>
            <a:endParaRPr lang="en-US" sz="1100" dirty="0"/>
          </a:p>
        </p:txBody>
      </p:sp>
      <p:sp>
        <p:nvSpPr>
          <p:cNvPr id="22" name="Shape 20"/>
          <p:cNvSpPr/>
          <p:nvPr/>
        </p:nvSpPr>
        <p:spPr>
          <a:xfrm>
            <a:off x="813816" y="2569464"/>
            <a:ext cx="100584" cy="100584"/>
          </a:xfrm>
          <a:prstGeom prst="ellipse">
            <a:avLst/>
          </a:prstGeom>
          <a:solidFill>
            <a:srgbClr val="02C39A"/>
          </a:solidFill>
          <a:ln/>
        </p:spPr>
        <p:txBody>
          <a:bodyPr/>
          <a:lstStyle/>
          <a:p>
            <a:endParaRPr lang="en-IN"/>
          </a:p>
        </p:txBody>
      </p:sp>
      <p:sp>
        <p:nvSpPr>
          <p:cNvPr id="23" name="Text 21"/>
          <p:cNvSpPr/>
          <p:nvPr/>
        </p:nvSpPr>
        <p:spPr>
          <a:xfrm>
            <a:off x="1005840" y="2507742"/>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Role-based dashboards</a:t>
            </a:r>
            <a:endParaRPr lang="en-US" sz="1100" dirty="0"/>
          </a:p>
        </p:txBody>
      </p:sp>
      <p:sp>
        <p:nvSpPr>
          <p:cNvPr id="24" name="Shape 22"/>
          <p:cNvSpPr/>
          <p:nvPr/>
        </p:nvSpPr>
        <p:spPr>
          <a:xfrm>
            <a:off x="813816" y="4330710"/>
            <a:ext cx="100584" cy="100584"/>
          </a:xfrm>
          <a:prstGeom prst="ellipse">
            <a:avLst/>
          </a:prstGeom>
          <a:solidFill>
            <a:srgbClr val="02C39A"/>
          </a:solidFill>
          <a:ln/>
        </p:spPr>
        <p:txBody>
          <a:bodyPr/>
          <a:lstStyle/>
          <a:p>
            <a:endParaRPr lang="en-IN"/>
          </a:p>
        </p:txBody>
      </p:sp>
      <p:sp>
        <p:nvSpPr>
          <p:cNvPr id="25" name="Text 23"/>
          <p:cNvSpPr/>
          <p:nvPr/>
        </p:nvSpPr>
        <p:spPr>
          <a:xfrm>
            <a:off x="1005840" y="4294228"/>
            <a:ext cx="4709160" cy="292608"/>
          </a:xfrm>
          <a:prstGeom prst="rect">
            <a:avLst/>
          </a:prstGeom>
          <a:noFill/>
          <a:ln/>
        </p:spPr>
        <p:txBody>
          <a:bodyPr wrap="square" lIns="0" tIns="0" rIns="0" bIns="0" rtlCol="0" anchor="t"/>
          <a:lstStyle/>
          <a:p>
            <a:pPr marL="0" indent="0">
              <a:buNone/>
            </a:pPr>
            <a:r>
              <a:rPr lang="en-US" sz="1100" dirty="0" err="1">
                <a:solidFill>
                  <a:srgbClr val="16282C"/>
                </a:solidFill>
                <a:latin typeface="Calibri" pitchFamily="34" charset="0"/>
                <a:ea typeface="Calibri" pitchFamily="34" charset="-122"/>
                <a:cs typeface="Calibri" pitchFamily="34" charset="-120"/>
              </a:rPr>
              <a:t>Groq</a:t>
            </a:r>
            <a:r>
              <a:rPr lang="en-US" sz="1100" dirty="0">
                <a:solidFill>
                  <a:srgbClr val="16282C"/>
                </a:solidFill>
                <a:latin typeface="Calibri" pitchFamily="34" charset="0"/>
                <a:ea typeface="Calibri" pitchFamily="34" charset="-122"/>
                <a:cs typeface="Calibri" pitchFamily="34" charset="-120"/>
              </a:rPr>
              <a:t> AI care-plan generation</a:t>
            </a:r>
            <a:endParaRPr lang="en-US" sz="1100" dirty="0"/>
          </a:p>
        </p:txBody>
      </p:sp>
      <p:sp>
        <p:nvSpPr>
          <p:cNvPr id="26" name="Shape 24"/>
          <p:cNvSpPr/>
          <p:nvPr/>
        </p:nvSpPr>
        <p:spPr>
          <a:xfrm>
            <a:off x="813816" y="4641700"/>
            <a:ext cx="100584" cy="100584"/>
          </a:xfrm>
          <a:prstGeom prst="ellipse">
            <a:avLst/>
          </a:prstGeom>
          <a:solidFill>
            <a:srgbClr val="02C39A"/>
          </a:solidFill>
          <a:ln/>
        </p:spPr>
        <p:txBody>
          <a:bodyPr/>
          <a:lstStyle/>
          <a:p>
            <a:endParaRPr lang="en-IN"/>
          </a:p>
        </p:txBody>
      </p:sp>
      <p:sp>
        <p:nvSpPr>
          <p:cNvPr id="27" name="Text 25"/>
          <p:cNvSpPr/>
          <p:nvPr/>
        </p:nvSpPr>
        <p:spPr>
          <a:xfrm>
            <a:off x="1005840" y="4612985"/>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Care-plan management &amp; adherence tracking</a:t>
            </a:r>
            <a:endParaRPr lang="en-US" sz="1100" dirty="0"/>
          </a:p>
        </p:txBody>
      </p:sp>
      <p:sp>
        <p:nvSpPr>
          <p:cNvPr id="28" name="Shape 26"/>
          <p:cNvSpPr/>
          <p:nvPr/>
        </p:nvSpPr>
        <p:spPr>
          <a:xfrm>
            <a:off x="6263640" y="1417320"/>
            <a:ext cx="5394960" cy="3794760"/>
          </a:xfrm>
          <a:prstGeom prst="roundRect">
            <a:avLst>
              <a:gd name="adj" fmla="val 2410"/>
            </a:avLst>
          </a:prstGeom>
          <a:solidFill>
            <a:srgbClr val="EFF7F6"/>
          </a:solidFill>
          <a:ln/>
        </p:spPr>
        <p:txBody>
          <a:bodyPr/>
          <a:lstStyle/>
          <a:p>
            <a:endParaRPr lang="en-IN"/>
          </a:p>
        </p:txBody>
      </p:sp>
      <p:sp>
        <p:nvSpPr>
          <p:cNvPr id="29" name="Text 27"/>
          <p:cNvSpPr/>
          <p:nvPr/>
        </p:nvSpPr>
        <p:spPr>
          <a:xfrm>
            <a:off x="6492240" y="1536192"/>
            <a:ext cx="4937760" cy="320040"/>
          </a:xfrm>
          <a:prstGeom prst="rect">
            <a:avLst/>
          </a:prstGeom>
          <a:noFill/>
          <a:ln/>
        </p:spPr>
        <p:txBody>
          <a:bodyPr wrap="square" rtlCol="0" anchor="ctr"/>
          <a:lstStyle/>
          <a:p>
            <a:pPr marL="0" indent="0">
              <a:buNone/>
            </a:pPr>
            <a:r>
              <a:rPr lang="en-US" sz="1600" b="1" dirty="0">
                <a:solidFill>
                  <a:srgbClr val="00A896"/>
                </a:solidFill>
                <a:latin typeface="Cambria" pitchFamily="34" charset="0"/>
                <a:ea typeface="Cambria" pitchFamily="34" charset="-122"/>
                <a:cs typeface="Cambria" pitchFamily="34" charset="-120"/>
              </a:rPr>
              <a:t>Future Scope</a:t>
            </a:r>
            <a:endParaRPr lang="en-US" sz="1600" dirty="0"/>
          </a:p>
        </p:txBody>
      </p:sp>
      <p:sp>
        <p:nvSpPr>
          <p:cNvPr id="30" name="Shape 28"/>
          <p:cNvSpPr/>
          <p:nvPr/>
        </p:nvSpPr>
        <p:spPr>
          <a:xfrm>
            <a:off x="6519672" y="1993392"/>
            <a:ext cx="100584" cy="100584"/>
          </a:xfrm>
          <a:prstGeom prst="ellipse">
            <a:avLst/>
          </a:prstGeom>
          <a:solidFill>
            <a:srgbClr val="00A896"/>
          </a:solidFill>
          <a:ln/>
        </p:spPr>
        <p:txBody>
          <a:bodyPr/>
          <a:lstStyle/>
          <a:p>
            <a:endParaRPr lang="en-IN"/>
          </a:p>
        </p:txBody>
      </p:sp>
      <p:sp>
        <p:nvSpPr>
          <p:cNvPr id="31" name="Text 29"/>
          <p:cNvSpPr/>
          <p:nvPr/>
        </p:nvSpPr>
        <p:spPr>
          <a:xfrm>
            <a:off x="6720840" y="1938528"/>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Integration with real wearable devices</a:t>
            </a:r>
            <a:endParaRPr lang="en-US" sz="1100" dirty="0"/>
          </a:p>
        </p:txBody>
      </p:sp>
      <p:sp>
        <p:nvSpPr>
          <p:cNvPr id="32" name="Shape 30"/>
          <p:cNvSpPr/>
          <p:nvPr/>
        </p:nvSpPr>
        <p:spPr>
          <a:xfrm>
            <a:off x="6519672" y="2340864"/>
            <a:ext cx="100584" cy="100584"/>
          </a:xfrm>
          <a:prstGeom prst="ellipse">
            <a:avLst/>
          </a:prstGeom>
          <a:solidFill>
            <a:srgbClr val="00A896"/>
          </a:solidFill>
          <a:ln/>
        </p:spPr>
        <p:txBody>
          <a:bodyPr/>
          <a:lstStyle/>
          <a:p>
            <a:endParaRPr lang="en-IN"/>
          </a:p>
        </p:txBody>
      </p:sp>
      <p:sp>
        <p:nvSpPr>
          <p:cNvPr id="33" name="Text 31"/>
          <p:cNvSpPr/>
          <p:nvPr/>
        </p:nvSpPr>
        <p:spPr>
          <a:xfrm>
            <a:off x="6720840" y="2286000"/>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More disease prediction models</a:t>
            </a:r>
            <a:endParaRPr lang="en-US" sz="1100" dirty="0"/>
          </a:p>
        </p:txBody>
      </p:sp>
      <p:sp>
        <p:nvSpPr>
          <p:cNvPr id="34" name="Shape 32"/>
          <p:cNvSpPr/>
          <p:nvPr/>
        </p:nvSpPr>
        <p:spPr>
          <a:xfrm>
            <a:off x="6519672" y="2688336"/>
            <a:ext cx="100584" cy="100584"/>
          </a:xfrm>
          <a:prstGeom prst="ellipse">
            <a:avLst/>
          </a:prstGeom>
          <a:solidFill>
            <a:srgbClr val="00A896"/>
          </a:solidFill>
          <a:ln/>
        </p:spPr>
        <p:txBody>
          <a:bodyPr/>
          <a:lstStyle/>
          <a:p>
            <a:endParaRPr lang="en-IN"/>
          </a:p>
        </p:txBody>
      </p:sp>
      <p:sp>
        <p:nvSpPr>
          <p:cNvPr id="35" name="Text 33"/>
          <p:cNvSpPr/>
          <p:nvPr/>
        </p:nvSpPr>
        <p:spPr>
          <a:xfrm>
            <a:off x="6720840" y="2633472"/>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Advanced anomaly detection</a:t>
            </a:r>
            <a:endParaRPr lang="en-US" sz="1100" dirty="0"/>
          </a:p>
        </p:txBody>
      </p:sp>
      <p:sp>
        <p:nvSpPr>
          <p:cNvPr id="36" name="Shape 34"/>
          <p:cNvSpPr/>
          <p:nvPr/>
        </p:nvSpPr>
        <p:spPr>
          <a:xfrm>
            <a:off x="6519672" y="3035808"/>
            <a:ext cx="100584" cy="100584"/>
          </a:xfrm>
          <a:prstGeom prst="ellipse">
            <a:avLst/>
          </a:prstGeom>
          <a:solidFill>
            <a:srgbClr val="00A896"/>
          </a:solidFill>
          <a:ln/>
        </p:spPr>
        <p:txBody>
          <a:bodyPr/>
          <a:lstStyle/>
          <a:p>
            <a:endParaRPr lang="en-IN"/>
          </a:p>
        </p:txBody>
      </p:sp>
      <p:sp>
        <p:nvSpPr>
          <p:cNvPr id="37" name="Text 35"/>
          <p:cNvSpPr/>
          <p:nvPr/>
        </p:nvSpPr>
        <p:spPr>
          <a:xfrm>
            <a:off x="6720840" y="2980944"/>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Voice-based patient assistant</a:t>
            </a:r>
            <a:endParaRPr lang="en-US" sz="1100" dirty="0"/>
          </a:p>
        </p:txBody>
      </p:sp>
      <p:sp>
        <p:nvSpPr>
          <p:cNvPr id="38" name="Shape 36"/>
          <p:cNvSpPr/>
          <p:nvPr/>
        </p:nvSpPr>
        <p:spPr>
          <a:xfrm>
            <a:off x="6519672" y="3383280"/>
            <a:ext cx="100584" cy="100584"/>
          </a:xfrm>
          <a:prstGeom prst="ellipse">
            <a:avLst/>
          </a:prstGeom>
          <a:solidFill>
            <a:srgbClr val="00A896"/>
          </a:solidFill>
          <a:ln/>
        </p:spPr>
        <p:txBody>
          <a:bodyPr/>
          <a:lstStyle/>
          <a:p>
            <a:endParaRPr lang="en-IN"/>
          </a:p>
        </p:txBody>
      </p:sp>
      <p:sp>
        <p:nvSpPr>
          <p:cNvPr id="39" name="Text 37"/>
          <p:cNvSpPr/>
          <p:nvPr/>
        </p:nvSpPr>
        <p:spPr>
          <a:xfrm>
            <a:off x="6720840" y="3328416"/>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Mobile application</a:t>
            </a:r>
            <a:endParaRPr lang="en-US" sz="1100" dirty="0"/>
          </a:p>
        </p:txBody>
      </p:sp>
      <p:sp>
        <p:nvSpPr>
          <p:cNvPr id="40" name="Shape 38"/>
          <p:cNvSpPr/>
          <p:nvPr/>
        </p:nvSpPr>
        <p:spPr>
          <a:xfrm>
            <a:off x="6519672" y="3730752"/>
            <a:ext cx="100584" cy="100584"/>
          </a:xfrm>
          <a:prstGeom prst="ellipse">
            <a:avLst/>
          </a:prstGeom>
          <a:solidFill>
            <a:srgbClr val="00A896"/>
          </a:solidFill>
          <a:ln/>
        </p:spPr>
        <p:txBody>
          <a:bodyPr/>
          <a:lstStyle/>
          <a:p>
            <a:endParaRPr lang="en-IN"/>
          </a:p>
        </p:txBody>
      </p:sp>
      <p:sp>
        <p:nvSpPr>
          <p:cNvPr id="41" name="Text 39"/>
          <p:cNvSpPr/>
          <p:nvPr/>
        </p:nvSpPr>
        <p:spPr>
          <a:xfrm>
            <a:off x="6720840" y="3675888"/>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Improved clinical decision support</a:t>
            </a:r>
            <a:endParaRPr lang="en-US" sz="1100" dirty="0"/>
          </a:p>
        </p:txBody>
      </p:sp>
      <p:sp>
        <p:nvSpPr>
          <p:cNvPr id="42" name="Shape 40"/>
          <p:cNvSpPr/>
          <p:nvPr/>
        </p:nvSpPr>
        <p:spPr>
          <a:xfrm>
            <a:off x="6519672" y="4078224"/>
            <a:ext cx="100584" cy="100584"/>
          </a:xfrm>
          <a:prstGeom prst="ellipse">
            <a:avLst/>
          </a:prstGeom>
          <a:solidFill>
            <a:srgbClr val="00A896"/>
          </a:solidFill>
          <a:ln/>
        </p:spPr>
        <p:txBody>
          <a:bodyPr/>
          <a:lstStyle/>
          <a:p>
            <a:endParaRPr lang="en-IN"/>
          </a:p>
        </p:txBody>
      </p:sp>
      <p:sp>
        <p:nvSpPr>
          <p:cNvPr id="43" name="Text 41"/>
          <p:cNvSpPr/>
          <p:nvPr/>
        </p:nvSpPr>
        <p:spPr>
          <a:xfrm>
            <a:off x="6720840" y="4023360"/>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Integration with additional healthcare standards</a:t>
            </a:r>
            <a:endParaRPr lang="en-US" sz="1100" dirty="0"/>
          </a:p>
        </p:txBody>
      </p:sp>
      <p:sp>
        <p:nvSpPr>
          <p:cNvPr id="44" name="Shape 42"/>
          <p:cNvSpPr/>
          <p:nvPr/>
        </p:nvSpPr>
        <p:spPr>
          <a:xfrm>
            <a:off x="6519672" y="4425696"/>
            <a:ext cx="100584" cy="100584"/>
          </a:xfrm>
          <a:prstGeom prst="ellipse">
            <a:avLst/>
          </a:prstGeom>
          <a:solidFill>
            <a:srgbClr val="00A896"/>
          </a:solidFill>
          <a:ln/>
        </p:spPr>
        <p:txBody>
          <a:bodyPr/>
          <a:lstStyle/>
          <a:p>
            <a:endParaRPr lang="en-IN"/>
          </a:p>
        </p:txBody>
      </p:sp>
      <p:sp>
        <p:nvSpPr>
          <p:cNvPr id="45" name="Text 43"/>
          <p:cNvSpPr/>
          <p:nvPr/>
        </p:nvSpPr>
        <p:spPr>
          <a:xfrm>
            <a:off x="6720840" y="4370832"/>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More advanced personalized AI recommendations</a:t>
            </a:r>
            <a:endParaRPr lang="en-US" sz="1100" dirty="0"/>
          </a:p>
        </p:txBody>
      </p:sp>
      <p:sp>
        <p:nvSpPr>
          <p:cNvPr id="46" name="Shape 44"/>
          <p:cNvSpPr/>
          <p:nvPr/>
        </p:nvSpPr>
        <p:spPr>
          <a:xfrm>
            <a:off x="6519672" y="4773168"/>
            <a:ext cx="100584" cy="100584"/>
          </a:xfrm>
          <a:prstGeom prst="ellipse">
            <a:avLst/>
          </a:prstGeom>
          <a:solidFill>
            <a:srgbClr val="00A896"/>
          </a:solidFill>
          <a:ln/>
        </p:spPr>
        <p:txBody>
          <a:bodyPr/>
          <a:lstStyle/>
          <a:p>
            <a:endParaRPr lang="en-IN"/>
          </a:p>
        </p:txBody>
      </p:sp>
      <p:sp>
        <p:nvSpPr>
          <p:cNvPr id="47" name="Text 45"/>
          <p:cNvSpPr/>
          <p:nvPr/>
        </p:nvSpPr>
        <p:spPr>
          <a:xfrm>
            <a:off x="6720840" y="4718304"/>
            <a:ext cx="4709160" cy="292608"/>
          </a:xfrm>
          <a:prstGeom prst="rect">
            <a:avLst/>
          </a:prstGeom>
          <a:noFill/>
          <a:ln/>
        </p:spPr>
        <p:txBody>
          <a:bodyPr wrap="square" lIns="0" tIns="0" rIns="0" bIns="0" rtlCol="0" anchor="t"/>
          <a:lstStyle/>
          <a:p>
            <a:pPr marL="0" indent="0">
              <a:buNone/>
            </a:pPr>
            <a:r>
              <a:rPr lang="en-US" sz="1100" dirty="0">
                <a:solidFill>
                  <a:srgbClr val="16282C"/>
                </a:solidFill>
                <a:latin typeface="Calibri" pitchFamily="34" charset="0"/>
                <a:ea typeface="Calibri" pitchFamily="34" charset="-122"/>
                <a:cs typeface="Calibri" pitchFamily="34" charset="-120"/>
              </a:rPr>
              <a:t>Cloud deployment and large-scale monitoring</a:t>
            </a:r>
            <a:endParaRPr lang="en-US" sz="1100" dirty="0"/>
          </a:p>
        </p:txBody>
      </p:sp>
      <p:sp>
        <p:nvSpPr>
          <p:cNvPr id="48" name="Shape 46"/>
          <p:cNvSpPr/>
          <p:nvPr/>
        </p:nvSpPr>
        <p:spPr>
          <a:xfrm>
            <a:off x="548640" y="5440680"/>
            <a:ext cx="11091672" cy="1051560"/>
          </a:xfrm>
          <a:prstGeom prst="roundRect">
            <a:avLst>
              <a:gd name="adj" fmla="val 10435"/>
            </a:avLst>
          </a:prstGeom>
          <a:solidFill>
            <a:srgbClr val="01353D"/>
          </a:solidFill>
          <a:ln/>
        </p:spPr>
        <p:txBody>
          <a:bodyPr/>
          <a:lstStyle/>
          <a:p>
            <a:endParaRPr lang="en-IN"/>
          </a:p>
        </p:txBody>
      </p:sp>
      <p:sp>
        <p:nvSpPr>
          <p:cNvPr id="49" name="Text 47"/>
          <p:cNvSpPr/>
          <p:nvPr/>
        </p:nvSpPr>
        <p:spPr>
          <a:xfrm>
            <a:off x="914400" y="5440680"/>
            <a:ext cx="10424160" cy="1051560"/>
          </a:xfrm>
          <a:prstGeom prst="rect">
            <a:avLst/>
          </a:prstGeom>
          <a:noFill/>
          <a:ln/>
        </p:spPr>
        <p:txBody>
          <a:bodyPr wrap="square" lIns="0" tIns="0" rIns="0" bIns="0"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“Healthcare Management Platform for Clinical Operations  transforms healthcare data into continuous, intelligent and personalized patient care.”</a:t>
            </a:r>
            <a:endParaRPr lang="en-US" sz="1550" dirty="0"/>
          </a:p>
        </p:txBody>
      </p:sp>
      <p:sp>
        <p:nvSpPr>
          <p:cNvPr id="50" name="Text 4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C73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1353D"/>
        </a:solidFill>
        <a:effectLst/>
      </p:bgPr>
    </p:bg>
    <p:spTree>
      <p:nvGrpSpPr>
        <p:cNvPr id="1" name=""/>
        <p:cNvGrpSpPr/>
        <p:nvPr/>
      </p:nvGrpSpPr>
      <p:grpSpPr>
        <a:xfrm>
          <a:off x="0" y="0"/>
          <a:ext cx="0" cy="0"/>
          <a:chOff x="0" y="0"/>
          <a:chExt cx="0" cy="0"/>
        </a:xfrm>
      </p:grpSpPr>
      <p:sp>
        <p:nvSpPr>
          <p:cNvPr id="5" name="Text 3"/>
          <p:cNvSpPr/>
          <p:nvPr/>
        </p:nvSpPr>
        <p:spPr>
          <a:xfrm>
            <a:off x="0" y="2377440"/>
            <a:ext cx="12188952" cy="10058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4"/>
          <p:cNvSpPr/>
          <p:nvPr/>
        </p:nvSpPr>
        <p:spPr>
          <a:xfrm>
            <a:off x="0" y="3337560"/>
            <a:ext cx="12188952" cy="548640"/>
          </a:xfrm>
          <a:prstGeom prst="rect">
            <a:avLst/>
          </a:prstGeom>
          <a:noFill/>
          <a:ln/>
        </p:spPr>
        <p:txBody>
          <a:bodyPr wrap="square" rtlCol="0" anchor="ctr"/>
          <a:lstStyle/>
          <a:p>
            <a:pPr marL="0" indent="0" algn="ctr">
              <a:buNone/>
            </a:pPr>
            <a:r>
              <a:rPr lang="en-US" sz="1800" dirty="0">
                <a:solidFill>
                  <a:srgbClr val="02C39A"/>
                </a:solidFill>
                <a:latin typeface="Calibri" pitchFamily="34" charset="0"/>
                <a:ea typeface="Calibri" pitchFamily="34" charset="-122"/>
                <a:cs typeface="Calibri" pitchFamily="34" charset="-120"/>
              </a:rPr>
              <a:t>Questions &amp; Discussion</a:t>
            </a:r>
            <a:endParaRPr lang="en-US" sz="1800" dirty="0"/>
          </a:p>
        </p:txBody>
      </p:sp>
      <p:sp>
        <p:nvSpPr>
          <p:cNvPr id="7" name="Shape 5"/>
          <p:cNvSpPr/>
          <p:nvPr/>
        </p:nvSpPr>
        <p:spPr>
          <a:xfrm>
            <a:off x="4814316" y="4160520"/>
            <a:ext cx="2560320" cy="0"/>
          </a:xfrm>
          <a:prstGeom prst="line">
            <a:avLst/>
          </a:prstGeom>
          <a:noFill/>
          <a:ln w="25400">
            <a:solidFill>
              <a:srgbClr val="00A896"/>
            </a:solidFill>
            <a:prstDash val="solid"/>
          </a:ln>
        </p:spPr>
        <p:txBody>
          <a:bodyPr/>
          <a:lstStyle/>
          <a:p>
            <a:endParaRPr lang="en-IN"/>
          </a:p>
        </p:txBody>
      </p:sp>
      <p:sp>
        <p:nvSpPr>
          <p:cNvPr id="8" name="Text 6"/>
          <p:cNvSpPr/>
          <p:nvPr/>
        </p:nvSpPr>
        <p:spPr>
          <a:xfrm>
            <a:off x="0" y="4389120"/>
            <a:ext cx="12188952" cy="457200"/>
          </a:xfrm>
          <a:prstGeom prst="rect">
            <a:avLst/>
          </a:prstGeom>
          <a:noFill/>
          <a:ln/>
        </p:spPr>
        <p:txBody>
          <a:bodyPr wrap="square" rtlCol="0" anchor="ctr"/>
          <a:lstStyle/>
          <a:p>
            <a:pPr marL="0" indent="0" algn="ctr">
              <a:buNone/>
            </a:pPr>
            <a:r>
              <a:rPr lang="en-US" sz="1400" b="1" dirty="0">
                <a:solidFill>
                  <a:srgbClr val="CFEDE9"/>
                </a:solidFill>
                <a:latin typeface="Calibri" pitchFamily="34" charset="0"/>
                <a:ea typeface="Calibri" pitchFamily="34" charset="-122"/>
                <a:cs typeface="Calibri" pitchFamily="34" charset="-120"/>
              </a:rPr>
              <a:t>Healthcare Management Platform for Clinical Operations </a:t>
            </a:r>
            <a:endParaRPr lang="en-US" sz="1400" dirty="0"/>
          </a:p>
        </p:txBody>
      </p:sp>
      <p:sp>
        <p:nvSpPr>
          <p:cNvPr id="9" name="Text 7"/>
          <p:cNvSpPr/>
          <p:nvPr/>
        </p:nvSpPr>
        <p:spPr>
          <a:xfrm>
            <a:off x="0" y="4754880"/>
            <a:ext cx="12188952" cy="365760"/>
          </a:xfrm>
          <a:prstGeom prst="rect">
            <a:avLst/>
          </a:prstGeom>
          <a:noFill/>
          <a:ln/>
        </p:spPr>
        <p:txBody>
          <a:bodyPr wrap="square" rtlCol="0" anchor="ctr"/>
          <a:lstStyle/>
          <a:p>
            <a:pPr marL="0" indent="0" algn="ctr">
              <a:buNone/>
            </a:pPr>
            <a:r>
              <a:rPr lang="en-US" sz="1200" dirty="0">
                <a:solidFill>
                  <a:srgbClr val="8FD6CE"/>
                </a:solidFill>
                <a:latin typeface="Calibri" pitchFamily="34" charset="0"/>
                <a:ea typeface="Calibri" pitchFamily="34" charset="-122"/>
                <a:cs typeface="Calibri" pitchFamily="34" charset="-120"/>
              </a:rPr>
              <a:t>AI-Powered Continuous Health Monitoring, Risk Prediction &amp; Personalized Care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925</TotalTime>
  <Words>1859</Words>
  <Application>Microsoft Office PowerPoint</Application>
  <PresentationFormat>Widescreen</PresentationFormat>
  <Paragraphs>281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Gnaneswar Reddy</cp:lastModifiedBy>
  <cp:revision>8</cp:revision>
  <dcterms:created xsi:type="dcterms:W3CDTF">2026-08-12T09:13:14Z</dcterms:created>
  <dcterms:modified xsi:type="dcterms:W3CDTF">2026-08-28T18:20:27Z</dcterms:modified>
</cp:coreProperties>
</file>